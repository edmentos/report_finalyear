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10" d="100"/>
          <a:sy n="210" d="100"/>
        </p:scale>
        <p:origin x="3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2801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(30s)
Hi, I'm Edmond Wilkinson and this is the Desk Buddy. The idea came from my placement at Fidelity Investments where colleagues were constantly interrupting people who were in meetings, because there was no visible signal. That was the starting point. From there it grew into a full office wellness system: monitoring your environment, posture, and noise all in real time on one dashboard. Let me walk you through what I built.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(45s)
Four real problems happening in the same office simultaneously. No availability signal, so people get interrupted constantly. Prolonged sitting is genuinely dangerous — there is solid research linking it to cardiovascular problems. Open-plan offices are loud and noise measurably degrades concentration. And poor posture develops so gradually people don't notice until they already have neck pain. Every one of these has commercial solutions but they are all separate products. Nobody has put them together. That is the gap the Desk Buddy fills.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BUILT (60s)
Six components. Hardware: ESP32 with DHT22 and HC-SR04 transmitting JSON every second. Python FastAPI backend auto-detects the ESP32, stores data in PostgreSQL in Docker, streams everything over WebSocket. An audio worker captures the system microphone, computes RMS decibels with smoothing, classifies into four configurable noise bands. A webcam worker runs MediaPipe Pose at 1.5 FPS tracking ear and shoulder landmarks for a calibrated slouch score. React frontend in the browser updates live. PostgreSQL with composite indexes for fast historical queries.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(45s)
Four layers. Hardware on the left: ESP32 sensors, system microphone, webcam. Three processing workers in the middle running concurrently: serial reader, noise analyser, posture worker. They all write to PostgreSQL and push onto the same WebSocket stream. The React dashboard on the right subscribes and renders everything live. The key design decision is that the three workers are completely independent — if the webcam is not available the rest still works. Graceful degradation throughout.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DASHBOARD (45s)
This is a screenshot of the real running dashboard. Top: Stream Live green dot means WebSocket is connected. The three sensor tiles show real-time temperature, humidity, and distance from the ESP32. The noise card is green at 14.8 dB — Quiet. If noise goes above 50 dB it turns blue, above 60 orange, above 70 red. The posture card shows SITTING with the current distance reading. Below that are today's accumulated sitting and standing hours. The backend status confirms the server and database are healthy, and the ESP32 connection card shows COM5 with a disconnect button.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POSTURE AND NOISE (75s)
Distance-based detection: HC-SR04 reads every second, 5-sample rolling average removes noise, hysteresis buffer prevents flickering at the boundary, 3-second minimum duration gate means a single errant reading cannot change the state. Clean and reliable.
The webcam detection went through three approaches. First plan was ESP32-S3 onboard camera but the board had a hardware fault — overheating and corrupted frames. Second attempt: face bounding box area as a proxy for forward head position, but it was too sensitive to lighting changes and camera auto-exposure. Third approach: MediaPipe Pose with four landmarks. Ear span grows as the head moves forward. Head-shoulder gap shrinks as the head drops. Both compared to a calibrated good-posture baseline with 15% tolerance. State needs to be consistent for 1.5 seconds before it changes. After 30 seconds of sustained slouching the user gets a browser notification.
Noise is simpler: RMS amplitude, convert to dB, rolling average smoothing, classify into four configurable bands.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HISTORY AND SETTINGS (45s)
The History page shows time-series data for all four sensor streams. I had a performance problem early on where the page was fetching all records and filtering them in the browser. Once the database had a few hours of data it became noticeably slow. The fix was moving the time windowing into the SQL query and adding composite indexes on sensor and timestamp. Query time dropped from several seconds to under 100 milliseconds.
The Settings page is fully configurable. You set your sitting desk height and the offset above it that triggers standing. There is an automatic calibration flow where you physically sit and stand at your desk and it records both heights and sets the threshold at the midpoint. Noise thresholds are all user-configurable per environment. And for the webcam posture you run a 10-second good-posture calibration and can tune the tolerance values.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(60s)
These are the real problems I hit. The ESP32-S3 one was the most disruptive — cost me weeks. The board was faulty, overheating constantly, and I had to redesign the posture detection entirely. Switching to the host webcam with MediaPipe actually produced a better result.
Posture detection went through three approaches total. Hardware fault killed the first. Bounding box area was too unreliable for the second. MediaPipe landmarks work well.
Camera exclusivity was annoying but the solution is clean. Thread safety for the WebSocket broadcast was subtle — you can not call an async function directly from a background thread in Python. The PostgreSQL startup race was a cold-start Docker problem fixed with a retry loop.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MANAGEMENT (30s)
Jira throughout with sprints, epics, user stories, and story point estimates. This is the burndown from Sprint 1. Classic pattern: slow start while scaffolding architecture, then a sharp drop when the serial connection and WebSocket integration all clicked at once around the 27th of January. That moment when data first flows end to end from the sensor to the screen — that is the inflection point. I also kept weekly OneNote logs all year which were invaluable when writing the report.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(30s)
The system works. All four data streams live, dashboard updates in real time, posture detection calibrated and reliable, whole stack from a single start.bat command. The challenges were real but working through them produced a better result. The future work is genuinely exciting — the Teams integration was the original idea and Tauri packaging to make it a proper native app are both natural next steps.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PREP:
- Why PostgreSQL not SQLite? Docker makes it easy, composite indexes work better for EAV queries.
- Why not a desktop app? That is in future work as Tauri packaging. Browser frontend is simpler to develop and demo.
- How accurate is posture detection? Depends on calibration quality and lighting. 15% tolerance handles normal movement.
- What happened with the ESP32-S3? Hardware fault — constant overheating and corrupted frames. Switched to standard ESP32.
- Why MediaPipe over a custom CNN? Faster to build, runs on CPU, four-landmark geometry is physically meaningful.
- Is audio data private? Only the dB level is stored. The system cannot record or replay anything said.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w="12700">
            <a:solidFill>
              <a:srgbClr val="38BDF8"/>
            </a:solidFill>
            <a:prstDash val="solid"/>
          </a:ln>
        </p:spPr>
        <p:txBody>
          <a:bodyPr/>
          <a:lstStyle/>
          <a:p>
            <a:endParaRPr lang="en-IE"/>
          </a:p>
        </p:txBody>
      </p:sp>
      <p:sp>
        <p:nvSpPr>
          <p:cNvPr id="3" name="Text 1"/>
          <p:cNvSpPr/>
          <p:nvPr/>
        </p:nvSpPr>
        <p:spPr>
          <a:xfrm>
            <a:off x="365760" y="822960"/>
            <a:ext cx="5120640" cy="1005840"/>
          </a:xfrm>
          <a:prstGeom prst="rect">
            <a:avLst/>
          </a:prstGeom>
          <a:noFill/>
          <a:ln/>
        </p:spPr>
        <p:txBody>
          <a:bodyPr wrap="square" lIns="0" tIns="0" rIns="0" bIns="0" rtlCol="0" anchor="ctr"/>
          <a:lstStyle/>
          <a:p>
            <a:pPr marL="0" indent="0">
              <a:buNone/>
            </a:pPr>
            <a:r>
              <a:rPr lang="en-US" sz="4800" b="1" dirty="0">
                <a:solidFill>
                  <a:srgbClr val="F0F9FF"/>
                </a:solidFill>
                <a:latin typeface="Trebuchet MS" pitchFamily="34" charset="0"/>
                <a:ea typeface="Trebuchet MS" pitchFamily="34" charset="-122"/>
                <a:cs typeface="Trebuchet MS" pitchFamily="34" charset="-120"/>
              </a:rPr>
              <a:t>The Desk Buddy</a:t>
            </a:r>
            <a:endParaRPr lang="en-US" sz="4800" dirty="0"/>
          </a:p>
        </p:txBody>
      </p:sp>
      <p:sp>
        <p:nvSpPr>
          <p:cNvPr id="4" name="Text 2"/>
          <p:cNvSpPr/>
          <p:nvPr/>
        </p:nvSpPr>
        <p:spPr>
          <a:xfrm>
            <a:off x="365760" y="1920240"/>
            <a:ext cx="4937760" cy="594360"/>
          </a:xfrm>
          <a:prstGeom prst="rect">
            <a:avLst/>
          </a:prstGeom>
          <a:noFill/>
          <a:ln/>
        </p:spPr>
        <p:txBody>
          <a:bodyPr wrap="square" lIns="0" tIns="0" rIns="0" bIns="0" rtlCol="0" anchor="ctr"/>
          <a:lstStyle/>
          <a:p>
            <a:pPr marL="0" indent="0">
              <a:buNone/>
            </a:pPr>
            <a:r>
              <a:rPr lang="en-US" sz="1500" i="1" dirty="0">
                <a:solidFill>
                  <a:srgbClr val="38BDF8"/>
                </a:solidFill>
                <a:latin typeface="Calibri" pitchFamily="34" charset="0"/>
                <a:ea typeface="Calibri" pitchFamily="34" charset="-122"/>
                <a:cs typeface="Calibri" pitchFamily="34" charset="-120"/>
              </a:rPr>
              <a:t>An All-in-One Office Wellness and Productivity Monitoring System</a:t>
            </a:r>
            <a:endParaRPr lang="en-US" sz="1500" dirty="0"/>
          </a:p>
        </p:txBody>
      </p:sp>
      <p:sp>
        <p:nvSpPr>
          <p:cNvPr id="5" name="Shape 3"/>
          <p:cNvSpPr/>
          <p:nvPr/>
        </p:nvSpPr>
        <p:spPr>
          <a:xfrm>
            <a:off x="365760" y="2697480"/>
            <a:ext cx="4754880" cy="0"/>
          </a:xfrm>
          <a:prstGeom prst="line">
            <a:avLst/>
          </a:prstGeom>
          <a:noFill/>
          <a:ln w="12700">
            <a:solidFill>
              <a:srgbClr val="38BDF8"/>
            </a:solidFill>
            <a:prstDash val="solid"/>
          </a:ln>
        </p:spPr>
        <p:txBody>
          <a:bodyPr/>
          <a:lstStyle/>
          <a:p>
            <a:endParaRPr lang="en-IE"/>
          </a:p>
        </p:txBody>
      </p:sp>
      <p:sp>
        <p:nvSpPr>
          <p:cNvPr id="6" name="Text 4"/>
          <p:cNvSpPr/>
          <p:nvPr/>
        </p:nvSpPr>
        <p:spPr>
          <a:xfrm>
            <a:off x="365760" y="2880360"/>
            <a:ext cx="4937760" cy="1005840"/>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Edmond Wilkinson  |  G00414989</a:t>
            </a:r>
            <a:endParaRPr lang="en-US" sz="1250" dirty="0"/>
          </a:p>
          <a:p>
            <a:pPr marL="0" indent="0">
              <a:buNone/>
            </a:pPr>
            <a:r>
              <a:rPr lang="en-US" sz="1250" dirty="0">
                <a:solidFill>
                  <a:srgbClr val="94A3B8"/>
                </a:solidFill>
                <a:latin typeface="Calibri" pitchFamily="34" charset="0"/>
                <a:ea typeface="Calibri" pitchFamily="34" charset="-122"/>
                <a:cs typeface="Calibri" pitchFamily="34" charset="-120"/>
              </a:rPr>
              <a:t>BEng Software &amp; Electronic Engineering</a:t>
            </a:r>
            <a:endParaRPr lang="en-US" sz="1250" dirty="0"/>
          </a:p>
          <a:p>
            <a:pPr marL="0" indent="0">
              <a:buNone/>
            </a:pPr>
            <a:r>
              <a:rPr lang="en-US" sz="1250" dirty="0">
                <a:solidFill>
                  <a:srgbClr val="94A3B8"/>
                </a:solidFill>
                <a:latin typeface="Calibri" pitchFamily="34" charset="0"/>
                <a:ea typeface="Calibri" pitchFamily="34" charset="-122"/>
                <a:cs typeface="Calibri" pitchFamily="34" charset="-120"/>
              </a:rPr>
              <a:t>Supervisor: Paul Lennon  |  ATU Galway  |  2025/26</a:t>
            </a:r>
            <a:endParaRPr lang="en-US" sz="1250" dirty="0"/>
          </a:p>
        </p:txBody>
      </p:sp>
      <p:sp>
        <p:nvSpPr>
          <p:cNvPr id="9" name="Text 6"/>
          <p:cNvSpPr/>
          <p:nvPr/>
        </p:nvSpPr>
        <p:spPr>
          <a:xfrm>
            <a:off x="5577840" y="2441448"/>
            <a:ext cx="1051560" cy="402336"/>
          </a:xfrm>
          <a:prstGeom prst="rect">
            <a:avLst/>
          </a:prstGeom>
          <a:noFill/>
          <a:ln/>
        </p:spPr>
        <p:txBody>
          <a:bodyPr wrap="square" lIns="0" tIns="0" rIns="0" bIns="0" rtlCol="0" anchor="ctr"/>
          <a:lstStyle/>
          <a:p>
            <a:pPr marL="0" indent="0" algn="ctr">
              <a:buNone/>
            </a:pPr>
            <a:endParaRPr lang="en-US" sz="2200" dirty="0"/>
          </a:p>
        </p:txBody>
      </p:sp>
      <p:sp>
        <p:nvSpPr>
          <p:cNvPr id="10" name="Text 7"/>
          <p:cNvSpPr/>
          <p:nvPr/>
        </p:nvSpPr>
        <p:spPr>
          <a:xfrm>
            <a:off x="5577840" y="2843784"/>
            <a:ext cx="1051560" cy="384048"/>
          </a:xfrm>
          <a:prstGeom prst="rect">
            <a:avLst/>
          </a:prstGeom>
          <a:noFill/>
          <a:ln/>
        </p:spPr>
        <p:txBody>
          <a:bodyPr wrap="square" lIns="0" tIns="0" rIns="0" bIns="0" rtlCol="0" anchor="ctr"/>
          <a:lstStyle/>
          <a:p>
            <a:pPr marL="0" indent="0" algn="ctr">
              <a:buNone/>
            </a:pPr>
            <a:endParaRPr lang="en-US" sz="850" dirty="0"/>
          </a:p>
        </p:txBody>
      </p:sp>
      <p:pic>
        <p:nvPicPr>
          <p:cNvPr id="20" name="Picture 19">
            <a:extLst>
              <a:ext uri="{FF2B5EF4-FFF2-40B4-BE49-F238E27FC236}">
                <a16:creationId xmlns:a16="http://schemas.microsoft.com/office/drawing/2014/main" id="{F5D11FA9-78C4-76C8-012D-36952F180F40}"/>
              </a:ext>
            </a:extLst>
          </p:cNvPr>
          <p:cNvPicPr>
            <a:picLocks noChangeAspect="1"/>
          </p:cNvPicPr>
          <p:nvPr/>
        </p:nvPicPr>
        <p:blipFill>
          <a:blip r:embed="rId3"/>
          <a:stretch>
            <a:fillRect/>
          </a:stretch>
        </p:blipFill>
        <p:spPr>
          <a:xfrm>
            <a:off x="5486400" y="1526364"/>
            <a:ext cx="3029344" cy="19017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3600" b="1" dirty="0">
                <a:solidFill>
                  <a:srgbClr val="F0F9FF"/>
                </a:solidFill>
                <a:latin typeface="Trebuchet MS" pitchFamily="34" charset="0"/>
                <a:ea typeface="Trebuchet MS" pitchFamily="34" charset="-122"/>
                <a:cs typeface="Trebuchet MS" pitchFamily="34" charset="-120"/>
              </a:rPr>
              <a:t>The Problem</a:t>
            </a:r>
            <a:endParaRPr lang="en-US" sz="3600" dirty="0"/>
          </a:p>
        </p:txBody>
      </p:sp>
      <p:sp>
        <p:nvSpPr>
          <p:cNvPr id="3" name="Shape 1"/>
          <p:cNvSpPr/>
          <p:nvPr/>
        </p:nvSpPr>
        <p:spPr>
          <a:xfrm>
            <a:off x="457200" y="850392"/>
            <a:ext cx="8046720" cy="27432"/>
          </a:xfrm>
          <a:prstGeom prst="rect">
            <a:avLst/>
          </a:prstGeom>
          <a:solidFill>
            <a:srgbClr val="38BDF8"/>
          </a:solidFill>
          <a:ln w="12700">
            <a:solidFill>
              <a:srgbClr val="38BDF8"/>
            </a:solidFill>
            <a:prstDash val="solid"/>
          </a:ln>
        </p:spPr>
        <p:txBody>
          <a:bodyPr/>
          <a:lstStyle/>
          <a:p>
            <a:endParaRPr lang="en-IE"/>
          </a:p>
        </p:txBody>
      </p:sp>
      <p:sp>
        <p:nvSpPr>
          <p:cNvPr id="4" name="Shape 2"/>
          <p:cNvSpPr/>
          <p:nvPr/>
        </p:nvSpPr>
        <p:spPr>
          <a:xfrm>
            <a:off x="365760" y="1005840"/>
            <a:ext cx="4023360" cy="1572768"/>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5" name="Shape 3"/>
          <p:cNvSpPr/>
          <p:nvPr/>
        </p:nvSpPr>
        <p:spPr>
          <a:xfrm>
            <a:off x="365760" y="1005840"/>
            <a:ext cx="64008" cy="1572768"/>
          </a:xfrm>
          <a:prstGeom prst="rect">
            <a:avLst/>
          </a:prstGeom>
          <a:solidFill>
            <a:srgbClr val="38BDF8"/>
          </a:solidFill>
          <a:ln w="12700">
            <a:solidFill>
              <a:srgbClr val="38BDF8"/>
            </a:solidFill>
            <a:prstDash val="solid"/>
          </a:ln>
        </p:spPr>
        <p:txBody>
          <a:bodyPr/>
          <a:lstStyle/>
          <a:p>
            <a:endParaRPr lang="en-IE"/>
          </a:p>
        </p:txBody>
      </p:sp>
      <p:sp>
        <p:nvSpPr>
          <p:cNvPr id="6" name="Text 4"/>
          <p:cNvSpPr/>
          <p:nvPr/>
        </p:nvSpPr>
        <p:spPr>
          <a:xfrm>
            <a:off x="502920" y="1115568"/>
            <a:ext cx="3749040" cy="320040"/>
          </a:xfrm>
          <a:prstGeom prst="rect">
            <a:avLst/>
          </a:prstGeom>
          <a:noFill/>
          <a:ln/>
        </p:spPr>
        <p:txBody>
          <a:bodyPr wrap="square" lIns="0" tIns="0" rIns="0" bIns="0" rtlCol="0" anchor="ctr"/>
          <a:lstStyle/>
          <a:p>
            <a:pPr marL="0" indent="0">
              <a:buNone/>
            </a:pPr>
            <a:r>
              <a:rPr lang="en-US" sz="1350" b="1" dirty="0">
                <a:solidFill>
                  <a:srgbClr val="F0F9FF"/>
                </a:solidFill>
                <a:latin typeface="Trebuchet MS" pitchFamily="34" charset="0"/>
                <a:ea typeface="Trebuchet MS" pitchFamily="34" charset="-122"/>
                <a:cs typeface="Trebuchet MS" pitchFamily="34" charset="-120"/>
              </a:rPr>
              <a:t>🚨  Constant interruptions</a:t>
            </a:r>
            <a:endParaRPr lang="en-US" sz="1350" dirty="0"/>
          </a:p>
        </p:txBody>
      </p:sp>
      <p:sp>
        <p:nvSpPr>
          <p:cNvPr id="7" name="Text 5"/>
          <p:cNvSpPr/>
          <p:nvPr/>
        </p:nvSpPr>
        <p:spPr>
          <a:xfrm>
            <a:off x="502920" y="1481328"/>
            <a:ext cx="3749040" cy="10058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No signal when a colleague is in a meeting or focused. In open-plan offices there is no way to tell at a glance.</a:t>
            </a:r>
            <a:endParaRPr lang="en-US" sz="1150" dirty="0"/>
          </a:p>
        </p:txBody>
      </p:sp>
      <p:sp>
        <p:nvSpPr>
          <p:cNvPr id="8" name="Shape 6"/>
          <p:cNvSpPr/>
          <p:nvPr/>
        </p:nvSpPr>
        <p:spPr>
          <a:xfrm>
            <a:off x="4663440" y="1005840"/>
            <a:ext cx="4023360" cy="1572768"/>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9" name="Shape 7"/>
          <p:cNvSpPr/>
          <p:nvPr/>
        </p:nvSpPr>
        <p:spPr>
          <a:xfrm>
            <a:off x="4663440" y="1005840"/>
            <a:ext cx="64008" cy="1572768"/>
          </a:xfrm>
          <a:prstGeom prst="rect">
            <a:avLst/>
          </a:prstGeom>
          <a:solidFill>
            <a:srgbClr val="38BDF8"/>
          </a:solidFill>
          <a:ln w="12700">
            <a:solidFill>
              <a:srgbClr val="38BDF8"/>
            </a:solidFill>
            <a:prstDash val="solid"/>
          </a:ln>
        </p:spPr>
        <p:txBody>
          <a:bodyPr/>
          <a:lstStyle/>
          <a:p>
            <a:endParaRPr lang="en-IE"/>
          </a:p>
        </p:txBody>
      </p:sp>
      <p:sp>
        <p:nvSpPr>
          <p:cNvPr id="10" name="Text 8"/>
          <p:cNvSpPr/>
          <p:nvPr/>
        </p:nvSpPr>
        <p:spPr>
          <a:xfrm>
            <a:off x="4800600" y="1115568"/>
            <a:ext cx="3749040" cy="320040"/>
          </a:xfrm>
          <a:prstGeom prst="rect">
            <a:avLst/>
          </a:prstGeom>
          <a:noFill/>
          <a:ln/>
        </p:spPr>
        <p:txBody>
          <a:bodyPr wrap="square" lIns="0" tIns="0" rIns="0" bIns="0" rtlCol="0" anchor="ctr"/>
          <a:lstStyle/>
          <a:p>
            <a:pPr marL="0" indent="0">
              <a:buNone/>
            </a:pPr>
            <a:r>
              <a:rPr lang="en-US" sz="1350" b="1" dirty="0">
                <a:solidFill>
                  <a:srgbClr val="F0F9FF"/>
                </a:solidFill>
                <a:latin typeface="Trebuchet MS" pitchFamily="34" charset="0"/>
                <a:ea typeface="Trebuchet MS" pitchFamily="34" charset="-122"/>
                <a:cs typeface="Trebuchet MS" pitchFamily="34" charset="-120"/>
              </a:rPr>
              <a:t>🪑  Prolonged sitting</a:t>
            </a:r>
            <a:endParaRPr lang="en-US" sz="1350" dirty="0"/>
          </a:p>
        </p:txBody>
      </p:sp>
      <p:sp>
        <p:nvSpPr>
          <p:cNvPr id="11" name="Text 9"/>
          <p:cNvSpPr/>
          <p:nvPr/>
        </p:nvSpPr>
        <p:spPr>
          <a:xfrm>
            <a:off x="4800600" y="1481328"/>
            <a:ext cx="3749040" cy="10058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Office workers sit 6–9 hrs/day. Research links this to 50% higher cardiovascular risk without movement breaks.</a:t>
            </a:r>
            <a:endParaRPr lang="en-US" sz="1150" dirty="0"/>
          </a:p>
        </p:txBody>
      </p:sp>
      <p:sp>
        <p:nvSpPr>
          <p:cNvPr id="12" name="Shape 10"/>
          <p:cNvSpPr/>
          <p:nvPr/>
        </p:nvSpPr>
        <p:spPr>
          <a:xfrm>
            <a:off x="365760" y="2788920"/>
            <a:ext cx="4023360" cy="1572768"/>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13" name="Shape 11"/>
          <p:cNvSpPr/>
          <p:nvPr/>
        </p:nvSpPr>
        <p:spPr>
          <a:xfrm>
            <a:off x="365760" y="2788920"/>
            <a:ext cx="64008" cy="1572768"/>
          </a:xfrm>
          <a:prstGeom prst="rect">
            <a:avLst/>
          </a:prstGeom>
          <a:solidFill>
            <a:srgbClr val="38BDF8"/>
          </a:solidFill>
          <a:ln w="12700">
            <a:solidFill>
              <a:srgbClr val="38BDF8"/>
            </a:solidFill>
            <a:prstDash val="solid"/>
          </a:ln>
        </p:spPr>
        <p:txBody>
          <a:bodyPr/>
          <a:lstStyle/>
          <a:p>
            <a:endParaRPr lang="en-IE"/>
          </a:p>
        </p:txBody>
      </p:sp>
      <p:sp>
        <p:nvSpPr>
          <p:cNvPr id="14" name="Text 12"/>
          <p:cNvSpPr/>
          <p:nvPr/>
        </p:nvSpPr>
        <p:spPr>
          <a:xfrm>
            <a:off x="502920" y="2898648"/>
            <a:ext cx="3749040" cy="320040"/>
          </a:xfrm>
          <a:prstGeom prst="rect">
            <a:avLst/>
          </a:prstGeom>
          <a:noFill/>
          <a:ln/>
        </p:spPr>
        <p:txBody>
          <a:bodyPr wrap="square" lIns="0" tIns="0" rIns="0" bIns="0" rtlCol="0" anchor="ctr"/>
          <a:lstStyle/>
          <a:p>
            <a:pPr marL="0" indent="0">
              <a:buNone/>
            </a:pPr>
            <a:r>
              <a:rPr lang="en-US" sz="1350" b="1" dirty="0">
                <a:solidFill>
                  <a:srgbClr val="F0F9FF"/>
                </a:solidFill>
                <a:latin typeface="Trebuchet MS" pitchFamily="34" charset="0"/>
                <a:ea typeface="Trebuchet MS" pitchFamily="34" charset="-122"/>
                <a:cs typeface="Trebuchet MS" pitchFamily="34" charset="-120"/>
              </a:rPr>
              <a:t>🔊  Open-plan noise</a:t>
            </a:r>
            <a:endParaRPr lang="en-US" sz="1350" dirty="0"/>
          </a:p>
        </p:txBody>
      </p:sp>
      <p:sp>
        <p:nvSpPr>
          <p:cNvPr id="15" name="Text 13"/>
          <p:cNvSpPr/>
          <p:nvPr/>
        </p:nvSpPr>
        <p:spPr>
          <a:xfrm>
            <a:off x="502920" y="3264408"/>
            <a:ext cx="3749040" cy="10058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85% of open-plan workers report inability to concentrate due to noise. Sustained noise above 65 dB degrades cognition.</a:t>
            </a:r>
            <a:endParaRPr lang="en-US" sz="1150" dirty="0"/>
          </a:p>
        </p:txBody>
      </p:sp>
      <p:sp>
        <p:nvSpPr>
          <p:cNvPr id="16" name="Shape 14"/>
          <p:cNvSpPr/>
          <p:nvPr/>
        </p:nvSpPr>
        <p:spPr>
          <a:xfrm>
            <a:off x="4663440" y="2788920"/>
            <a:ext cx="4023360" cy="1572768"/>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17" name="Shape 15"/>
          <p:cNvSpPr/>
          <p:nvPr/>
        </p:nvSpPr>
        <p:spPr>
          <a:xfrm>
            <a:off x="4663440" y="2788920"/>
            <a:ext cx="64008" cy="1572768"/>
          </a:xfrm>
          <a:prstGeom prst="rect">
            <a:avLst/>
          </a:prstGeom>
          <a:solidFill>
            <a:srgbClr val="38BDF8"/>
          </a:solidFill>
          <a:ln w="12700">
            <a:solidFill>
              <a:srgbClr val="38BDF8"/>
            </a:solidFill>
            <a:prstDash val="solid"/>
          </a:ln>
        </p:spPr>
        <p:txBody>
          <a:bodyPr/>
          <a:lstStyle/>
          <a:p>
            <a:endParaRPr lang="en-IE"/>
          </a:p>
        </p:txBody>
      </p:sp>
      <p:sp>
        <p:nvSpPr>
          <p:cNvPr id="18" name="Text 16"/>
          <p:cNvSpPr/>
          <p:nvPr/>
        </p:nvSpPr>
        <p:spPr>
          <a:xfrm>
            <a:off x="4800600" y="2898648"/>
            <a:ext cx="3749040" cy="320040"/>
          </a:xfrm>
          <a:prstGeom prst="rect">
            <a:avLst/>
          </a:prstGeom>
          <a:noFill/>
          <a:ln/>
        </p:spPr>
        <p:txBody>
          <a:bodyPr wrap="square" lIns="0" tIns="0" rIns="0" bIns="0" rtlCol="0" anchor="ctr"/>
          <a:lstStyle/>
          <a:p>
            <a:pPr marL="0" indent="0">
              <a:buNone/>
            </a:pPr>
            <a:r>
              <a:rPr lang="en-US" sz="1350" b="1" dirty="0">
                <a:solidFill>
                  <a:srgbClr val="F0F9FF"/>
                </a:solidFill>
                <a:latin typeface="Trebuchet MS" pitchFamily="34" charset="0"/>
                <a:ea typeface="Trebuchet MS" pitchFamily="34" charset="-122"/>
                <a:cs typeface="Trebuchet MS" pitchFamily="34" charset="-120"/>
              </a:rPr>
              <a:t>📐  Poor posture</a:t>
            </a:r>
            <a:endParaRPr lang="en-US" sz="1350" dirty="0"/>
          </a:p>
        </p:txBody>
      </p:sp>
      <p:sp>
        <p:nvSpPr>
          <p:cNvPr id="19" name="Text 17"/>
          <p:cNvSpPr/>
          <p:nvPr/>
        </p:nvSpPr>
        <p:spPr>
          <a:xfrm>
            <a:off x="4800600" y="3264408"/>
            <a:ext cx="3749040" cy="10058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Forward head posture is the most common work musculoskeletal complaint. It develops slowly and goes unnoticed.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3600" b="1" dirty="0">
                <a:solidFill>
                  <a:srgbClr val="F0F9FF"/>
                </a:solidFill>
                <a:latin typeface="Trebuchet MS" pitchFamily="34" charset="0"/>
                <a:ea typeface="Trebuchet MS" pitchFamily="34" charset="-122"/>
                <a:cs typeface="Trebuchet MS" pitchFamily="34" charset="-120"/>
              </a:rPr>
              <a:t>What I Built</a:t>
            </a:r>
            <a:endParaRPr lang="en-US" sz="3600" dirty="0"/>
          </a:p>
        </p:txBody>
      </p:sp>
      <p:sp>
        <p:nvSpPr>
          <p:cNvPr id="3" name="Shape 1"/>
          <p:cNvSpPr/>
          <p:nvPr/>
        </p:nvSpPr>
        <p:spPr>
          <a:xfrm>
            <a:off x="457200" y="850392"/>
            <a:ext cx="8046720" cy="27432"/>
          </a:xfrm>
          <a:prstGeom prst="rect">
            <a:avLst/>
          </a:prstGeom>
          <a:solidFill>
            <a:srgbClr val="38BDF8"/>
          </a:solidFill>
          <a:ln w="12700">
            <a:solidFill>
              <a:srgbClr val="38BDF8"/>
            </a:solidFill>
            <a:prstDash val="solid"/>
          </a:ln>
        </p:spPr>
        <p:txBody>
          <a:bodyPr/>
          <a:lstStyle/>
          <a:p>
            <a:endParaRPr lang="en-IE"/>
          </a:p>
        </p:txBody>
      </p:sp>
      <p:sp>
        <p:nvSpPr>
          <p:cNvPr id="4" name="Shape 2"/>
          <p:cNvSpPr/>
          <p:nvPr/>
        </p:nvSpPr>
        <p:spPr>
          <a:xfrm>
            <a:off x="365760" y="1005840"/>
            <a:ext cx="4114800" cy="1078992"/>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5" name="Shape 3"/>
          <p:cNvSpPr/>
          <p:nvPr/>
        </p:nvSpPr>
        <p:spPr>
          <a:xfrm>
            <a:off x="365760" y="1005840"/>
            <a:ext cx="64008" cy="1078992"/>
          </a:xfrm>
          <a:prstGeom prst="rect">
            <a:avLst/>
          </a:prstGeom>
          <a:solidFill>
            <a:srgbClr val="38BDF8"/>
          </a:solidFill>
          <a:ln w="12700">
            <a:solidFill>
              <a:srgbClr val="38BDF8"/>
            </a:solidFill>
            <a:prstDash val="solid"/>
          </a:ln>
        </p:spPr>
        <p:txBody>
          <a:bodyPr/>
          <a:lstStyle/>
          <a:p>
            <a:endParaRPr lang="en-IE"/>
          </a:p>
        </p:txBody>
      </p:sp>
      <p:sp>
        <p:nvSpPr>
          <p:cNvPr id="6" name="Text 4"/>
          <p:cNvSpPr/>
          <p:nvPr/>
        </p:nvSpPr>
        <p:spPr>
          <a:xfrm>
            <a:off x="512064" y="1097280"/>
            <a:ext cx="3840480" cy="256032"/>
          </a:xfrm>
          <a:prstGeom prst="rect">
            <a:avLst/>
          </a:prstGeom>
          <a:noFill/>
          <a:ln/>
        </p:spPr>
        <p:txBody>
          <a:bodyPr wrap="square" lIns="0" tIns="0" rIns="0" bIns="0" rtlCol="0" anchor="ctr"/>
          <a:lstStyle/>
          <a:p>
            <a:pPr marL="0" indent="0">
              <a:buNone/>
            </a:pPr>
            <a:r>
              <a:rPr lang="en-US" sz="1300" b="1" dirty="0">
                <a:solidFill>
                  <a:srgbClr val="F0F9FF"/>
                </a:solidFill>
                <a:latin typeface="Trebuchet MS" pitchFamily="34" charset="0"/>
                <a:ea typeface="Trebuchet MS" pitchFamily="34" charset="-122"/>
                <a:cs typeface="Trebuchet MS" pitchFamily="34" charset="-120"/>
              </a:rPr>
              <a:t>ESP32 Hardware</a:t>
            </a:r>
            <a:endParaRPr lang="en-US" sz="1300" dirty="0"/>
          </a:p>
        </p:txBody>
      </p:sp>
      <p:sp>
        <p:nvSpPr>
          <p:cNvPr id="7" name="Text 5"/>
          <p:cNvSpPr/>
          <p:nvPr/>
        </p:nvSpPr>
        <p:spPr>
          <a:xfrm>
            <a:off x="512064" y="1389888"/>
            <a:ext cx="3840480" cy="621792"/>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DHT22 (temp/humidity) + HC-SR04 (distance). Transmits JSON over USB serial once per second.</a:t>
            </a:r>
            <a:endParaRPr lang="en-US" sz="1100" dirty="0"/>
          </a:p>
        </p:txBody>
      </p:sp>
      <p:sp>
        <p:nvSpPr>
          <p:cNvPr id="8" name="Shape 6"/>
          <p:cNvSpPr/>
          <p:nvPr/>
        </p:nvSpPr>
        <p:spPr>
          <a:xfrm>
            <a:off x="365760" y="2221992"/>
            <a:ext cx="4114800" cy="1078992"/>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9" name="Shape 7"/>
          <p:cNvSpPr/>
          <p:nvPr/>
        </p:nvSpPr>
        <p:spPr>
          <a:xfrm>
            <a:off x="365760" y="2221992"/>
            <a:ext cx="64008" cy="1078992"/>
          </a:xfrm>
          <a:prstGeom prst="rect">
            <a:avLst/>
          </a:prstGeom>
          <a:solidFill>
            <a:srgbClr val="4ADE80"/>
          </a:solidFill>
          <a:ln w="12700">
            <a:solidFill>
              <a:srgbClr val="4ADE80"/>
            </a:solidFill>
            <a:prstDash val="solid"/>
          </a:ln>
        </p:spPr>
        <p:txBody>
          <a:bodyPr/>
          <a:lstStyle/>
          <a:p>
            <a:endParaRPr lang="en-IE"/>
          </a:p>
        </p:txBody>
      </p:sp>
      <p:sp>
        <p:nvSpPr>
          <p:cNvPr id="10" name="Text 8"/>
          <p:cNvSpPr/>
          <p:nvPr/>
        </p:nvSpPr>
        <p:spPr>
          <a:xfrm>
            <a:off x="512064" y="2313432"/>
            <a:ext cx="3840480" cy="256032"/>
          </a:xfrm>
          <a:prstGeom prst="rect">
            <a:avLst/>
          </a:prstGeom>
          <a:noFill/>
          <a:ln/>
        </p:spPr>
        <p:txBody>
          <a:bodyPr wrap="square" lIns="0" tIns="0" rIns="0" bIns="0" rtlCol="0" anchor="ctr"/>
          <a:lstStyle/>
          <a:p>
            <a:pPr marL="0" indent="0">
              <a:buNone/>
            </a:pPr>
            <a:r>
              <a:rPr lang="en-US" sz="1300" b="1" dirty="0">
                <a:solidFill>
                  <a:srgbClr val="F0F9FF"/>
                </a:solidFill>
                <a:latin typeface="Trebuchet MS" pitchFamily="34" charset="0"/>
                <a:ea typeface="Trebuchet MS" pitchFamily="34" charset="-122"/>
                <a:cs typeface="Trebuchet MS" pitchFamily="34" charset="-120"/>
              </a:rPr>
              <a:t>Python FastAPI Backend</a:t>
            </a:r>
            <a:endParaRPr lang="en-US" sz="1300" dirty="0"/>
          </a:p>
        </p:txBody>
      </p:sp>
      <p:sp>
        <p:nvSpPr>
          <p:cNvPr id="11" name="Text 9"/>
          <p:cNvSpPr/>
          <p:nvPr/>
        </p:nvSpPr>
        <p:spPr>
          <a:xfrm>
            <a:off x="512064" y="2606040"/>
            <a:ext cx="3840480" cy="621792"/>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Auto-detects ESP32, stores readings in PostgreSQL, streams all data over WebSocket</a:t>
            </a:r>
            <a:endParaRPr lang="en-US" sz="1100" dirty="0"/>
          </a:p>
        </p:txBody>
      </p:sp>
      <p:sp>
        <p:nvSpPr>
          <p:cNvPr id="12" name="Shape 10"/>
          <p:cNvSpPr/>
          <p:nvPr/>
        </p:nvSpPr>
        <p:spPr>
          <a:xfrm>
            <a:off x="365760" y="3438144"/>
            <a:ext cx="4114800" cy="1078992"/>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13" name="Shape 11"/>
          <p:cNvSpPr/>
          <p:nvPr/>
        </p:nvSpPr>
        <p:spPr>
          <a:xfrm>
            <a:off x="365760" y="3438144"/>
            <a:ext cx="64008" cy="1078992"/>
          </a:xfrm>
          <a:prstGeom prst="rect">
            <a:avLst/>
          </a:prstGeom>
          <a:solidFill>
            <a:srgbClr val="FB923C"/>
          </a:solidFill>
          <a:ln w="12700">
            <a:solidFill>
              <a:srgbClr val="FB923C"/>
            </a:solidFill>
            <a:prstDash val="solid"/>
          </a:ln>
        </p:spPr>
        <p:txBody>
          <a:bodyPr/>
          <a:lstStyle/>
          <a:p>
            <a:endParaRPr lang="en-IE"/>
          </a:p>
        </p:txBody>
      </p:sp>
      <p:sp>
        <p:nvSpPr>
          <p:cNvPr id="14" name="Text 12"/>
          <p:cNvSpPr/>
          <p:nvPr/>
        </p:nvSpPr>
        <p:spPr>
          <a:xfrm>
            <a:off x="512064" y="3529584"/>
            <a:ext cx="3840480" cy="256032"/>
          </a:xfrm>
          <a:prstGeom prst="rect">
            <a:avLst/>
          </a:prstGeom>
          <a:noFill/>
          <a:ln/>
        </p:spPr>
        <p:txBody>
          <a:bodyPr wrap="square" lIns="0" tIns="0" rIns="0" bIns="0" rtlCol="0" anchor="ctr"/>
          <a:lstStyle/>
          <a:p>
            <a:pPr marL="0" indent="0">
              <a:buNone/>
            </a:pPr>
            <a:r>
              <a:rPr lang="en-US" sz="1300" b="1" dirty="0">
                <a:solidFill>
                  <a:srgbClr val="F0F9FF"/>
                </a:solidFill>
                <a:latin typeface="Trebuchet MS" pitchFamily="34" charset="0"/>
                <a:ea typeface="Trebuchet MS" pitchFamily="34" charset="-122"/>
                <a:cs typeface="Trebuchet MS" pitchFamily="34" charset="-120"/>
              </a:rPr>
              <a:t>Audio Worker</a:t>
            </a:r>
            <a:endParaRPr lang="en-US" sz="1300" dirty="0"/>
          </a:p>
        </p:txBody>
      </p:sp>
      <p:sp>
        <p:nvSpPr>
          <p:cNvPr id="15" name="Text 13"/>
          <p:cNvSpPr/>
          <p:nvPr/>
        </p:nvSpPr>
        <p:spPr>
          <a:xfrm>
            <a:off x="512064" y="3822192"/>
            <a:ext cx="3840480" cy="621792"/>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Captures microphone input, computes RMS dB with smoothing. Classifies noise into 4 configurable bands. (Quiet, Low, Medium, Loud)</a:t>
            </a:r>
            <a:endParaRPr lang="en-US" sz="1100" dirty="0"/>
          </a:p>
        </p:txBody>
      </p:sp>
      <p:sp>
        <p:nvSpPr>
          <p:cNvPr id="16" name="Shape 14"/>
          <p:cNvSpPr/>
          <p:nvPr/>
        </p:nvSpPr>
        <p:spPr>
          <a:xfrm>
            <a:off x="4663440" y="1005840"/>
            <a:ext cx="4114800" cy="1078992"/>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17" name="Shape 15"/>
          <p:cNvSpPr/>
          <p:nvPr/>
        </p:nvSpPr>
        <p:spPr>
          <a:xfrm>
            <a:off x="4663440" y="1005840"/>
            <a:ext cx="64008" cy="1078992"/>
          </a:xfrm>
          <a:prstGeom prst="rect">
            <a:avLst/>
          </a:prstGeom>
          <a:solidFill>
            <a:srgbClr val="A78BFA"/>
          </a:solidFill>
          <a:ln w="12700">
            <a:solidFill>
              <a:srgbClr val="A78BFA"/>
            </a:solidFill>
            <a:prstDash val="solid"/>
          </a:ln>
        </p:spPr>
        <p:txBody>
          <a:bodyPr/>
          <a:lstStyle/>
          <a:p>
            <a:endParaRPr lang="en-IE"/>
          </a:p>
        </p:txBody>
      </p:sp>
      <p:sp>
        <p:nvSpPr>
          <p:cNvPr id="18" name="Text 16"/>
          <p:cNvSpPr/>
          <p:nvPr/>
        </p:nvSpPr>
        <p:spPr>
          <a:xfrm>
            <a:off x="4809744" y="1097280"/>
            <a:ext cx="3840480" cy="256032"/>
          </a:xfrm>
          <a:prstGeom prst="rect">
            <a:avLst/>
          </a:prstGeom>
          <a:noFill/>
          <a:ln/>
        </p:spPr>
        <p:txBody>
          <a:bodyPr wrap="square" lIns="0" tIns="0" rIns="0" bIns="0" rtlCol="0" anchor="ctr"/>
          <a:lstStyle/>
          <a:p>
            <a:pPr marL="0" indent="0">
              <a:buNone/>
            </a:pPr>
            <a:r>
              <a:rPr lang="en-US" sz="1300" b="1" dirty="0">
                <a:solidFill>
                  <a:srgbClr val="F0F9FF"/>
                </a:solidFill>
                <a:latin typeface="Trebuchet MS" pitchFamily="34" charset="0"/>
                <a:ea typeface="Trebuchet MS" pitchFamily="34" charset="-122"/>
                <a:cs typeface="Trebuchet MS" pitchFamily="34" charset="-120"/>
              </a:rPr>
              <a:t>MediaPipe Pose Worker</a:t>
            </a:r>
            <a:endParaRPr lang="en-US" sz="1300" dirty="0"/>
          </a:p>
        </p:txBody>
      </p:sp>
      <p:sp>
        <p:nvSpPr>
          <p:cNvPr id="19" name="Text 17"/>
          <p:cNvSpPr/>
          <p:nvPr/>
        </p:nvSpPr>
        <p:spPr>
          <a:xfrm>
            <a:off x="4809744" y="1389888"/>
            <a:ext cx="3840480" cy="621792"/>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Runs at 1.5 FPS on default webcam. Tracks ear + shoulder landmarks. Produces slouch score vs calibrated baseline (in settings). </a:t>
            </a:r>
            <a:endParaRPr lang="en-US" sz="1100" dirty="0"/>
          </a:p>
        </p:txBody>
      </p:sp>
      <p:sp>
        <p:nvSpPr>
          <p:cNvPr id="20" name="Shape 18"/>
          <p:cNvSpPr/>
          <p:nvPr/>
        </p:nvSpPr>
        <p:spPr>
          <a:xfrm>
            <a:off x="4663440" y="2221992"/>
            <a:ext cx="4114800" cy="1078992"/>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21" name="Shape 19"/>
          <p:cNvSpPr/>
          <p:nvPr/>
        </p:nvSpPr>
        <p:spPr>
          <a:xfrm>
            <a:off x="4663440" y="2221992"/>
            <a:ext cx="64008" cy="1078992"/>
          </a:xfrm>
          <a:prstGeom prst="rect">
            <a:avLst/>
          </a:prstGeom>
          <a:solidFill>
            <a:srgbClr val="F472B6"/>
          </a:solidFill>
          <a:ln w="12700">
            <a:solidFill>
              <a:srgbClr val="F472B6"/>
            </a:solidFill>
            <a:prstDash val="solid"/>
          </a:ln>
        </p:spPr>
        <p:txBody>
          <a:bodyPr/>
          <a:lstStyle/>
          <a:p>
            <a:endParaRPr lang="en-IE"/>
          </a:p>
        </p:txBody>
      </p:sp>
      <p:sp>
        <p:nvSpPr>
          <p:cNvPr id="22" name="Text 20"/>
          <p:cNvSpPr/>
          <p:nvPr/>
        </p:nvSpPr>
        <p:spPr>
          <a:xfrm>
            <a:off x="4809744" y="2313432"/>
            <a:ext cx="3840480" cy="256032"/>
          </a:xfrm>
          <a:prstGeom prst="rect">
            <a:avLst/>
          </a:prstGeom>
          <a:noFill/>
          <a:ln/>
        </p:spPr>
        <p:txBody>
          <a:bodyPr wrap="square" lIns="0" tIns="0" rIns="0" bIns="0" rtlCol="0" anchor="ctr"/>
          <a:lstStyle/>
          <a:p>
            <a:pPr marL="0" indent="0">
              <a:buNone/>
            </a:pPr>
            <a:r>
              <a:rPr lang="en-US" sz="1300" b="1" dirty="0">
                <a:solidFill>
                  <a:srgbClr val="F0F9FF"/>
                </a:solidFill>
                <a:latin typeface="Trebuchet MS" pitchFamily="34" charset="0"/>
                <a:ea typeface="Trebuchet MS" pitchFamily="34" charset="-122"/>
                <a:cs typeface="Trebuchet MS" pitchFamily="34" charset="-120"/>
              </a:rPr>
              <a:t>React Frontend Dashboard</a:t>
            </a:r>
            <a:endParaRPr lang="en-US" sz="1300" dirty="0"/>
          </a:p>
        </p:txBody>
      </p:sp>
      <p:sp>
        <p:nvSpPr>
          <p:cNvPr id="23" name="Text 21"/>
          <p:cNvSpPr/>
          <p:nvPr/>
        </p:nvSpPr>
        <p:spPr>
          <a:xfrm>
            <a:off x="4809744" y="2606040"/>
            <a:ext cx="3840480" cy="621792"/>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Live sensor tiles, noise level card, posture card, historical charts. WebSocket updates.</a:t>
            </a:r>
            <a:endParaRPr lang="en-US" sz="1100" dirty="0"/>
          </a:p>
        </p:txBody>
      </p:sp>
      <p:sp>
        <p:nvSpPr>
          <p:cNvPr id="24" name="Shape 22"/>
          <p:cNvSpPr/>
          <p:nvPr/>
        </p:nvSpPr>
        <p:spPr>
          <a:xfrm>
            <a:off x="4663440" y="3438144"/>
            <a:ext cx="4114800" cy="1078992"/>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25" name="Shape 23"/>
          <p:cNvSpPr/>
          <p:nvPr/>
        </p:nvSpPr>
        <p:spPr>
          <a:xfrm>
            <a:off x="4663440" y="3438144"/>
            <a:ext cx="64008" cy="1078992"/>
          </a:xfrm>
          <a:prstGeom prst="rect">
            <a:avLst/>
          </a:prstGeom>
          <a:solidFill>
            <a:srgbClr val="38BDF8"/>
          </a:solidFill>
          <a:ln w="12700">
            <a:solidFill>
              <a:srgbClr val="38BDF8"/>
            </a:solidFill>
            <a:prstDash val="solid"/>
          </a:ln>
        </p:spPr>
        <p:txBody>
          <a:bodyPr/>
          <a:lstStyle/>
          <a:p>
            <a:endParaRPr lang="en-IE"/>
          </a:p>
        </p:txBody>
      </p:sp>
      <p:sp>
        <p:nvSpPr>
          <p:cNvPr id="26" name="Text 24"/>
          <p:cNvSpPr/>
          <p:nvPr/>
        </p:nvSpPr>
        <p:spPr>
          <a:xfrm>
            <a:off x="4809744" y="3529584"/>
            <a:ext cx="3840480" cy="256032"/>
          </a:xfrm>
          <a:prstGeom prst="rect">
            <a:avLst/>
          </a:prstGeom>
          <a:noFill/>
          <a:ln/>
        </p:spPr>
        <p:txBody>
          <a:bodyPr wrap="square" lIns="0" tIns="0" rIns="0" bIns="0" rtlCol="0" anchor="ctr"/>
          <a:lstStyle/>
          <a:p>
            <a:pPr marL="0" indent="0">
              <a:buNone/>
            </a:pPr>
            <a:r>
              <a:rPr lang="en-US" sz="1300" b="1" dirty="0">
                <a:solidFill>
                  <a:srgbClr val="F0F9FF"/>
                </a:solidFill>
                <a:latin typeface="Trebuchet MS" pitchFamily="34" charset="0"/>
                <a:ea typeface="Trebuchet MS" pitchFamily="34" charset="-122"/>
                <a:cs typeface="Trebuchet MS" pitchFamily="34" charset="-120"/>
              </a:rPr>
              <a:t>PostgreSQL + Docker</a:t>
            </a:r>
            <a:endParaRPr lang="en-US" sz="1300" dirty="0"/>
          </a:p>
        </p:txBody>
      </p:sp>
      <p:sp>
        <p:nvSpPr>
          <p:cNvPr id="27" name="Text 25"/>
          <p:cNvSpPr/>
          <p:nvPr/>
        </p:nvSpPr>
        <p:spPr>
          <a:xfrm>
            <a:off x="4809744" y="3822192"/>
            <a:ext cx="3840480" cy="621792"/>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Stores all readings, posture events, calibration data. </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400" b="1" dirty="0">
                <a:solidFill>
                  <a:srgbClr val="F0F9FF"/>
                </a:solidFill>
                <a:latin typeface="Trebuchet MS" pitchFamily="34" charset="0"/>
                <a:ea typeface="Trebuchet MS" pitchFamily="34" charset="-122"/>
                <a:cs typeface="Trebuchet MS" pitchFamily="34" charset="-120"/>
              </a:rPr>
              <a:t>System Architecture</a:t>
            </a:r>
            <a:endParaRPr lang="en-US" sz="3400" dirty="0"/>
          </a:p>
        </p:txBody>
      </p:sp>
      <p:sp>
        <p:nvSpPr>
          <p:cNvPr id="3" name="Shape 1"/>
          <p:cNvSpPr/>
          <p:nvPr/>
        </p:nvSpPr>
        <p:spPr>
          <a:xfrm>
            <a:off x="457200" y="786384"/>
            <a:ext cx="8046720" cy="27432"/>
          </a:xfrm>
          <a:prstGeom prst="rect">
            <a:avLst/>
          </a:prstGeom>
          <a:solidFill>
            <a:srgbClr val="38BDF8"/>
          </a:solidFill>
          <a:ln w="12700">
            <a:solidFill>
              <a:srgbClr val="38BDF8"/>
            </a:solidFill>
            <a:prstDash val="solid"/>
          </a:ln>
        </p:spPr>
        <p:txBody>
          <a:bodyPr/>
          <a:lstStyle/>
          <a:p>
            <a:endParaRPr lang="en-IE"/>
          </a:p>
        </p:txBody>
      </p:sp>
      <p:pic>
        <p:nvPicPr>
          <p:cNvPr id="4" name="Image 0" descr="preencoded.png"/>
          <p:cNvPicPr>
            <a:picLocks noChangeAspect="1"/>
          </p:cNvPicPr>
          <p:nvPr/>
        </p:nvPicPr>
        <p:blipFill>
          <a:blip r:embed="rId3"/>
          <a:stretch>
            <a:fillRect/>
          </a:stretch>
        </p:blipFill>
        <p:spPr>
          <a:xfrm>
            <a:off x="365760" y="960120"/>
            <a:ext cx="8412480" cy="3200400"/>
          </a:xfrm>
          <a:prstGeom prst="rect">
            <a:avLst/>
          </a:prstGeom>
        </p:spPr>
      </p:pic>
      <p:sp>
        <p:nvSpPr>
          <p:cNvPr id="5" name="Text 2"/>
          <p:cNvSpPr/>
          <p:nvPr/>
        </p:nvSpPr>
        <p:spPr>
          <a:xfrm>
            <a:off x="457200" y="4279392"/>
            <a:ext cx="8229600" cy="365760"/>
          </a:xfrm>
          <a:prstGeom prst="rect">
            <a:avLst/>
          </a:prstGeom>
          <a:noFill/>
          <a:ln/>
        </p:spPr>
        <p:txBody>
          <a:bodyPr wrap="square" lIns="0" tIns="0" rIns="0" bIns="0" rtlCol="0" anchor="ctr"/>
          <a:lstStyle/>
          <a:p>
            <a:pPr marL="0" indent="0" algn="ctr">
              <a:buNone/>
            </a:pPr>
            <a:r>
              <a:rPr lang="en-US" sz="1150" i="1" dirty="0">
                <a:solidFill>
                  <a:srgbClr val="94A3B8"/>
                </a:solidFill>
                <a:latin typeface="Calibri" pitchFamily="34" charset="0"/>
                <a:ea typeface="Calibri" pitchFamily="34" charset="-122"/>
                <a:cs typeface="Calibri" pitchFamily="34" charset="-120"/>
              </a:rPr>
              <a:t>Three independent workers feed one WebSocket stream. React dashboard updates in real time without polling.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400" b="1" dirty="0">
                <a:solidFill>
                  <a:srgbClr val="F0F9FF"/>
                </a:solidFill>
                <a:latin typeface="Trebuchet MS" pitchFamily="34" charset="0"/>
                <a:ea typeface="Trebuchet MS" pitchFamily="34" charset="-122"/>
                <a:cs typeface="Trebuchet MS" pitchFamily="34" charset="-120"/>
              </a:rPr>
              <a:t>The Live Dashboard</a:t>
            </a:r>
            <a:endParaRPr lang="en-US" sz="3400" dirty="0"/>
          </a:p>
        </p:txBody>
      </p:sp>
      <p:sp>
        <p:nvSpPr>
          <p:cNvPr id="3" name="Shape 1"/>
          <p:cNvSpPr/>
          <p:nvPr/>
        </p:nvSpPr>
        <p:spPr>
          <a:xfrm>
            <a:off x="457200" y="786384"/>
            <a:ext cx="8046720" cy="27432"/>
          </a:xfrm>
          <a:prstGeom prst="rect">
            <a:avLst/>
          </a:prstGeom>
          <a:solidFill>
            <a:srgbClr val="38BDF8"/>
          </a:solidFill>
          <a:ln w="12700">
            <a:solidFill>
              <a:srgbClr val="38BDF8"/>
            </a:solidFill>
            <a:prstDash val="solid"/>
          </a:ln>
        </p:spPr>
        <p:txBody>
          <a:bodyPr/>
          <a:lstStyle/>
          <a:p>
            <a:endParaRPr lang="en-IE"/>
          </a:p>
        </p:txBody>
      </p:sp>
      <p:pic>
        <p:nvPicPr>
          <p:cNvPr id="4" name="Image 0" descr="preencoded.png"/>
          <p:cNvPicPr>
            <a:picLocks noChangeAspect="1"/>
          </p:cNvPicPr>
          <p:nvPr/>
        </p:nvPicPr>
        <p:blipFill>
          <a:blip r:embed="rId3"/>
          <a:stretch>
            <a:fillRect/>
          </a:stretch>
        </p:blipFill>
        <p:spPr>
          <a:xfrm>
            <a:off x="365760" y="914400"/>
            <a:ext cx="5303520" cy="3017520"/>
          </a:xfrm>
          <a:prstGeom prst="rect">
            <a:avLst/>
          </a:prstGeom>
        </p:spPr>
      </p:pic>
      <p:sp>
        <p:nvSpPr>
          <p:cNvPr id="5" name="Shape 2"/>
          <p:cNvSpPr/>
          <p:nvPr/>
        </p:nvSpPr>
        <p:spPr>
          <a:xfrm>
            <a:off x="5852160" y="914400"/>
            <a:ext cx="2926080" cy="667512"/>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6" name="Shape 3"/>
          <p:cNvSpPr/>
          <p:nvPr/>
        </p:nvSpPr>
        <p:spPr>
          <a:xfrm>
            <a:off x="5852160" y="914400"/>
            <a:ext cx="54864" cy="667512"/>
          </a:xfrm>
          <a:prstGeom prst="rect">
            <a:avLst/>
          </a:prstGeom>
          <a:solidFill>
            <a:srgbClr val="38BDF8"/>
          </a:solidFill>
          <a:ln w="12700">
            <a:solidFill>
              <a:srgbClr val="38BDF8"/>
            </a:solidFill>
            <a:prstDash val="solid"/>
          </a:ln>
        </p:spPr>
        <p:txBody>
          <a:bodyPr/>
          <a:lstStyle/>
          <a:p>
            <a:endParaRPr lang="en-IE"/>
          </a:p>
        </p:txBody>
      </p:sp>
      <p:sp>
        <p:nvSpPr>
          <p:cNvPr id="7" name="Text 4"/>
          <p:cNvSpPr/>
          <p:nvPr/>
        </p:nvSpPr>
        <p:spPr>
          <a:xfrm>
            <a:off x="5980176" y="969264"/>
            <a:ext cx="2697480" cy="201168"/>
          </a:xfrm>
          <a:prstGeom prst="rect">
            <a:avLst/>
          </a:prstGeom>
          <a:noFill/>
          <a:ln/>
        </p:spPr>
        <p:txBody>
          <a:bodyPr wrap="square" lIns="0" tIns="0" rIns="0" bIns="0" rtlCol="0" anchor="ctr"/>
          <a:lstStyle/>
          <a:p>
            <a:pPr marL="0" indent="0">
              <a:buNone/>
            </a:pPr>
            <a:r>
              <a:rPr lang="en-US" sz="1100" b="1" dirty="0">
                <a:solidFill>
                  <a:srgbClr val="F0F9FF"/>
                </a:solidFill>
                <a:latin typeface="Trebuchet MS" pitchFamily="34" charset="0"/>
                <a:ea typeface="Trebuchet MS" pitchFamily="34" charset="-122"/>
                <a:cs typeface="Trebuchet MS" pitchFamily="34" charset="-120"/>
              </a:rPr>
              <a:t>Stream: Live</a:t>
            </a:r>
            <a:endParaRPr lang="en-US" sz="1100" dirty="0"/>
          </a:p>
        </p:txBody>
      </p:sp>
      <p:sp>
        <p:nvSpPr>
          <p:cNvPr id="8" name="Text 5"/>
          <p:cNvSpPr/>
          <p:nvPr/>
        </p:nvSpPr>
        <p:spPr>
          <a:xfrm>
            <a:off x="5980176" y="1188720"/>
            <a:ext cx="2697480" cy="34747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WebSocket active. UI updates 4-5x/sec from all three workers simultaneously.</a:t>
            </a:r>
            <a:endParaRPr lang="en-US" sz="950" dirty="0"/>
          </a:p>
        </p:txBody>
      </p:sp>
      <p:sp>
        <p:nvSpPr>
          <p:cNvPr id="9" name="Shape 6"/>
          <p:cNvSpPr/>
          <p:nvPr/>
        </p:nvSpPr>
        <p:spPr>
          <a:xfrm>
            <a:off x="5852160" y="1673352"/>
            <a:ext cx="2926080" cy="667512"/>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10" name="Shape 7"/>
          <p:cNvSpPr/>
          <p:nvPr/>
        </p:nvSpPr>
        <p:spPr>
          <a:xfrm>
            <a:off x="5852160" y="1673352"/>
            <a:ext cx="54864" cy="667512"/>
          </a:xfrm>
          <a:prstGeom prst="rect">
            <a:avLst/>
          </a:prstGeom>
          <a:solidFill>
            <a:srgbClr val="4ADE80"/>
          </a:solidFill>
          <a:ln w="12700">
            <a:solidFill>
              <a:srgbClr val="4ADE80"/>
            </a:solidFill>
            <a:prstDash val="solid"/>
          </a:ln>
        </p:spPr>
        <p:txBody>
          <a:bodyPr/>
          <a:lstStyle/>
          <a:p>
            <a:endParaRPr lang="en-IE"/>
          </a:p>
        </p:txBody>
      </p:sp>
      <p:sp>
        <p:nvSpPr>
          <p:cNvPr id="11" name="Text 8"/>
          <p:cNvSpPr/>
          <p:nvPr/>
        </p:nvSpPr>
        <p:spPr>
          <a:xfrm>
            <a:off x="5980176" y="1728216"/>
            <a:ext cx="2697480" cy="201168"/>
          </a:xfrm>
          <a:prstGeom prst="rect">
            <a:avLst/>
          </a:prstGeom>
          <a:noFill/>
          <a:ln/>
        </p:spPr>
        <p:txBody>
          <a:bodyPr wrap="square" lIns="0" tIns="0" rIns="0" bIns="0" rtlCol="0" anchor="ctr"/>
          <a:lstStyle/>
          <a:p>
            <a:pPr marL="0" indent="0">
              <a:buNone/>
            </a:pPr>
            <a:r>
              <a:rPr lang="en-US" sz="1100" b="1" dirty="0">
                <a:solidFill>
                  <a:srgbClr val="F0F9FF"/>
                </a:solidFill>
                <a:latin typeface="Trebuchet MS" pitchFamily="34" charset="0"/>
                <a:ea typeface="Trebuchet MS" pitchFamily="34" charset="-122"/>
                <a:cs typeface="Trebuchet MS" pitchFamily="34" charset="-120"/>
              </a:rPr>
              <a:t>Sensor Tiles</a:t>
            </a:r>
            <a:endParaRPr lang="en-US" sz="1100" dirty="0"/>
          </a:p>
        </p:txBody>
      </p:sp>
      <p:sp>
        <p:nvSpPr>
          <p:cNvPr id="12" name="Text 9"/>
          <p:cNvSpPr/>
          <p:nvPr/>
        </p:nvSpPr>
        <p:spPr>
          <a:xfrm>
            <a:off x="5980176" y="1947672"/>
            <a:ext cx="2697480" cy="34747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22.1°C · 50% humidity · 74.7cm distance — live from ESP32.</a:t>
            </a:r>
            <a:endParaRPr lang="en-US" sz="950" dirty="0"/>
          </a:p>
        </p:txBody>
      </p:sp>
      <p:sp>
        <p:nvSpPr>
          <p:cNvPr id="13" name="Shape 10"/>
          <p:cNvSpPr/>
          <p:nvPr/>
        </p:nvSpPr>
        <p:spPr>
          <a:xfrm>
            <a:off x="5852160" y="2432304"/>
            <a:ext cx="2926080" cy="667512"/>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14" name="Shape 11"/>
          <p:cNvSpPr/>
          <p:nvPr/>
        </p:nvSpPr>
        <p:spPr>
          <a:xfrm>
            <a:off x="5852160" y="2432304"/>
            <a:ext cx="54864" cy="667512"/>
          </a:xfrm>
          <a:prstGeom prst="rect">
            <a:avLst/>
          </a:prstGeom>
          <a:solidFill>
            <a:srgbClr val="4ADE80"/>
          </a:solidFill>
          <a:ln w="12700">
            <a:solidFill>
              <a:srgbClr val="4ADE80"/>
            </a:solidFill>
            <a:prstDash val="solid"/>
          </a:ln>
        </p:spPr>
        <p:txBody>
          <a:bodyPr/>
          <a:lstStyle/>
          <a:p>
            <a:endParaRPr lang="en-IE"/>
          </a:p>
        </p:txBody>
      </p:sp>
      <p:sp>
        <p:nvSpPr>
          <p:cNvPr id="15" name="Text 12"/>
          <p:cNvSpPr/>
          <p:nvPr/>
        </p:nvSpPr>
        <p:spPr>
          <a:xfrm>
            <a:off x="5980176" y="2487168"/>
            <a:ext cx="2697480" cy="201168"/>
          </a:xfrm>
          <a:prstGeom prst="rect">
            <a:avLst/>
          </a:prstGeom>
          <a:noFill/>
          <a:ln/>
        </p:spPr>
        <p:txBody>
          <a:bodyPr wrap="square" lIns="0" tIns="0" rIns="0" bIns="0" rtlCol="0" anchor="ctr"/>
          <a:lstStyle/>
          <a:p>
            <a:pPr marL="0" indent="0">
              <a:buNone/>
            </a:pPr>
            <a:r>
              <a:rPr lang="en-US" sz="1100" b="1" dirty="0">
                <a:solidFill>
                  <a:srgbClr val="F0F9FF"/>
                </a:solidFill>
                <a:latin typeface="Trebuchet MS" pitchFamily="34" charset="0"/>
                <a:ea typeface="Trebuchet MS" pitchFamily="34" charset="-122"/>
                <a:cs typeface="Trebuchet MS" pitchFamily="34" charset="-120"/>
              </a:rPr>
              <a:t>Noise: Quiet  14.8 dB</a:t>
            </a:r>
            <a:endParaRPr lang="en-US" sz="1100" dirty="0"/>
          </a:p>
        </p:txBody>
      </p:sp>
      <p:sp>
        <p:nvSpPr>
          <p:cNvPr id="16" name="Text 13"/>
          <p:cNvSpPr/>
          <p:nvPr/>
        </p:nvSpPr>
        <p:spPr>
          <a:xfrm>
            <a:off x="5980176" y="2706624"/>
            <a:ext cx="2697480" cy="34747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Card colour changes green → blue → orange → red as noise increases through bands.</a:t>
            </a:r>
            <a:endParaRPr lang="en-US" sz="950" dirty="0"/>
          </a:p>
        </p:txBody>
      </p:sp>
      <p:sp>
        <p:nvSpPr>
          <p:cNvPr id="17" name="Shape 14"/>
          <p:cNvSpPr/>
          <p:nvPr/>
        </p:nvSpPr>
        <p:spPr>
          <a:xfrm>
            <a:off x="5852160" y="3191256"/>
            <a:ext cx="2926080" cy="667512"/>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18" name="Shape 15"/>
          <p:cNvSpPr/>
          <p:nvPr/>
        </p:nvSpPr>
        <p:spPr>
          <a:xfrm>
            <a:off x="5852160" y="3191256"/>
            <a:ext cx="54864" cy="667512"/>
          </a:xfrm>
          <a:prstGeom prst="rect">
            <a:avLst/>
          </a:prstGeom>
          <a:solidFill>
            <a:srgbClr val="A78BFA"/>
          </a:solidFill>
          <a:ln w="12700">
            <a:solidFill>
              <a:srgbClr val="A78BFA"/>
            </a:solidFill>
            <a:prstDash val="solid"/>
          </a:ln>
        </p:spPr>
        <p:txBody>
          <a:bodyPr/>
          <a:lstStyle/>
          <a:p>
            <a:endParaRPr lang="en-IE"/>
          </a:p>
        </p:txBody>
      </p:sp>
      <p:sp>
        <p:nvSpPr>
          <p:cNvPr id="19" name="Text 16"/>
          <p:cNvSpPr/>
          <p:nvPr/>
        </p:nvSpPr>
        <p:spPr>
          <a:xfrm>
            <a:off x="5980176" y="3246120"/>
            <a:ext cx="2697480" cy="201168"/>
          </a:xfrm>
          <a:prstGeom prst="rect">
            <a:avLst/>
          </a:prstGeom>
          <a:noFill/>
          <a:ln/>
        </p:spPr>
        <p:txBody>
          <a:bodyPr wrap="square" lIns="0" tIns="0" rIns="0" bIns="0" rtlCol="0" anchor="ctr"/>
          <a:lstStyle/>
          <a:p>
            <a:pPr marL="0" indent="0">
              <a:buNone/>
            </a:pPr>
            <a:r>
              <a:rPr lang="en-US" sz="1100" b="1" dirty="0">
                <a:solidFill>
                  <a:srgbClr val="F0F9FF"/>
                </a:solidFill>
                <a:latin typeface="Trebuchet MS" pitchFamily="34" charset="0"/>
                <a:ea typeface="Trebuchet MS" pitchFamily="34" charset="-122"/>
                <a:cs typeface="Trebuchet MS" pitchFamily="34" charset="-120"/>
              </a:rPr>
              <a:t>Posture: SITTING</a:t>
            </a:r>
            <a:endParaRPr lang="en-US" sz="1100" dirty="0"/>
          </a:p>
        </p:txBody>
      </p:sp>
      <p:sp>
        <p:nvSpPr>
          <p:cNvPr id="20" name="Text 17"/>
          <p:cNvSpPr/>
          <p:nvPr/>
        </p:nvSpPr>
        <p:spPr>
          <a:xfrm>
            <a:off x="5980176" y="3465576"/>
            <a:ext cx="2697480" cy="34747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Distance-based detection. Today's hours shown below. Backend status and ESP32 connection at bottom.</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400" b="1" dirty="0">
                <a:solidFill>
                  <a:srgbClr val="F0F9FF"/>
                </a:solidFill>
                <a:latin typeface="Trebuchet MS" pitchFamily="34" charset="0"/>
                <a:ea typeface="Trebuchet MS" pitchFamily="34" charset="-122"/>
                <a:cs typeface="Trebuchet MS" pitchFamily="34" charset="-120"/>
              </a:rPr>
              <a:t>Posture and Noise Detection</a:t>
            </a:r>
            <a:endParaRPr lang="en-US" sz="3400" dirty="0"/>
          </a:p>
        </p:txBody>
      </p:sp>
      <p:sp>
        <p:nvSpPr>
          <p:cNvPr id="3" name="Shape 1"/>
          <p:cNvSpPr/>
          <p:nvPr/>
        </p:nvSpPr>
        <p:spPr>
          <a:xfrm>
            <a:off x="457200" y="786384"/>
            <a:ext cx="8046720" cy="27432"/>
          </a:xfrm>
          <a:prstGeom prst="rect">
            <a:avLst/>
          </a:prstGeom>
          <a:solidFill>
            <a:srgbClr val="38BDF8"/>
          </a:solidFill>
          <a:ln w="12700">
            <a:solidFill>
              <a:srgbClr val="38BDF8"/>
            </a:solidFill>
            <a:prstDash val="solid"/>
          </a:ln>
        </p:spPr>
        <p:txBody>
          <a:bodyPr/>
          <a:lstStyle/>
          <a:p>
            <a:endParaRPr lang="en-IE"/>
          </a:p>
        </p:txBody>
      </p:sp>
      <p:sp>
        <p:nvSpPr>
          <p:cNvPr id="4" name="Text 2"/>
          <p:cNvSpPr/>
          <p:nvPr/>
        </p:nvSpPr>
        <p:spPr>
          <a:xfrm>
            <a:off x="365760" y="960120"/>
            <a:ext cx="4114800" cy="320040"/>
          </a:xfrm>
          <a:prstGeom prst="rect">
            <a:avLst/>
          </a:prstGeom>
          <a:noFill/>
          <a:ln/>
        </p:spPr>
        <p:txBody>
          <a:bodyPr wrap="square" lIns="0" tIns="0" rIns="0" bIns="0" rtlCol="0" anchor="ctr"/>
          <a:lstStyle/>
          <a:p>
            <a:pPr marL="0" indent="0">
              <a:buNone/>
            </a:pPr>
            <a:r>
              <a:rPr lang="en-US" sz="1300" b="1" dirty="0">
                <a:solidFill>
                  <a:srgbClr val="38BDF8"/>
                </a:solidFill>
                <a:latin typeface="Trebuchet MS" pitchFamily="34" charset="0"/>
                <a:ea typeface="Trebuchet MS" pitchFamily="34" charset="-122"/>
                <a:cs typeface="Trebuchet MS" pitchFamily="34" charset="-120"/>
              </a:rPr>
              <a:t>Distance-Based Sitting / Standing</a:t>
            </a:r>
            <a:endParaRPr lang="en-US" sz="1300" dirty="0"/>
          </a:p>
        </p:txBody>
      </p:sp>
      <p:sp>
        <p:nvSpPr>
          <p:cNvPr id="5" name="Shape 3"/>
          <p:cNvSpPr/>
          <p:nvPr/>
        </p:nvSpPr>
        <p:spPr>
          <a:xfrm>
            <a:off x="365760" y="1371600"/>
            <a:ext cx="347472" cy="347472"/>
          </a:xfrm>
          <a:prstGeom prst="ellipse">
            <a:avLst/>
          </a:prstGeom>
          <a:solidFill>
            <a:srgbClr val="38BDF8"/>
          </a:solidFill>
          <a:ln w="12700">
            <a:solidFill>
              <a:srgbClr val="38BDF8"/>
            </a:solidFill>
            <a:prstDash val="solid"/>
          </a:ln>
        </p:spPr>
        <p:txBody>
          <a:bodyPr/>
          <a:lstStyle/>
          <a:p>
            <a:endParaRPr lang="en-IE"/>
          </a:p>
        </p:txBody>
      </p:sp>
      <p:sp>
        <p:nvSpPr>
          <p:cNvPr id="6" name="Text 4"/>
          <p:cNvSpPr/>
          <p:nvPr/>
        </p:nvSpPr>
        <p:spPr>
          <a:xfrm>
            <a:off x="365760" y="1371600"/>
            <a:ext cx="347472" cy="347472"/>
          </a:xfrm>
          <a:prstGeom prst="rect">
            <a:avLst/>
          </a:prstGeom>
          <a:noFill/>
          <a:ln/>
        </p:spPr>
        <p:txBody>
          <a:bodyPr wrap="square" lIns="0" tIns="0" rIns="0" bIns="0" rtlCol="0" anchor="ctr"/>
          <a:lstStyle/>
          <a:p>
            <a:pPr marL="0" indent="0" algn="ctr">
              <a:buNone/>
            </a:pPr>
            <a:r>
              <a:rPr lang="en-US" sz="1200" b="1" dirty="0">
                <a:solidFill>
                  <a:srgbClr val="111827"/>
                </a:solidFill>
              </a:rPr>
              <a:t>1</a:t>
            </a:r>
            <a:endParaRPr lang="en-US" sz="1200" dirty="0"/>
          </a:p>
        </p:txBody>
      </p:sp>
      <p:sp>
        <p:nvSpPr>
          <p:cNvPr id="7" name="Text 5"/>
          <p:cNvSpPr/>
          <p:nvPr/>
        </p:nvSpPr>
        <p:spPr>
          <a:xfrm>
            <a:off x="822960" y="1389888"/>
            <a:ext cx="3474720" cy="310896"/>
          </a:xfrm>
          <a:prstGeom prst="rect">
            <a:avLst/>
          </a:prstGeom>
          <a:noFill/>
          <a:ln/>
        </p:spPr>
        <p:txBody>
          <a:bodyPr wrap="square" lIns="0" tIns="0" rIns="0" bIns="0" rtlCol="0" anchor="ctr"/>
          <a:lstStyle/>
          <a:p>
            <a:pPr marL="0" indent="0">
              <a:buNone/>
            </a:pPr>
            <a:r>
              <a:rPr lang="en-US" sz="1200" dirty="0">
                <a:solidFill>
                  <a:srgbClr val="F0F9FF"/>
                </a:solidFill>
                <a:latin typeface="Calibri" pitchFamily="34" charset="0"/>
                <a:ea typeface="Calibri" pitchFamily="34" charset="-122"/>
                <a:cs typeface="Calibri" pitchFamily="34" charset="-120"/>
              </a:rPr>
              <a:t>HC-SR04 reads distance (cm)</a:t>
            </a:r>
            <a:endParaRPr lang="en-US" sz="1200" dirty="0"/>
          </a:p>
        </p:txBody>
      </p:sp>
      <p:sp>
        <p:nvSpPr>
          <p:cNvPr id="8" name="Shape 6"/>
          <p:cNvSpPr/>
          <p:nvPr/>
        </p:nvSpPr>
        <p:spPr>
          <a:xfrm>
            <a:off x="534924" y="1719072"/>
            <a:ext cx="0" cy="219456"/>
          </a:xfrm>
          <a:prstGeom prst="line">
            <a:avLst/>
          </a:prstGeom>
          <a:noFill/>
          <a:ln w="19050">
            <a:solidFill>
              <a:srgbClr val="38BDF8"/>
            </a:solidFill>
            <a:prstDash val="solid"/>
          </a:ln>
        </p:spPr>
        <p:txBody>
          <a:bodyPr/>
          <a:lstStyle/>
          <a:p>
            <a:endParaRPr lang="en-IE"/>
          </a:p>
        </p:txBody>
      </p:sp>
      <p:sp>
        <p:nvSpPr>
          <p:cNvPr id="9" name="Shape 7"/>
          <p:cNvSpPr/>
          <p:nvPr/>
        </p:nvSpPr>
        <p:spPr>
          <a:xfrm>
            <a:off x="365760" y="1938528"/>
            <a:ext cx="347472" cy="347472"/>
          </a:xfrm>
          <a:prstGeom prst="ellipse">
            <a:avLst/>
          </a:prstGeom>
          <a:solidFill>
            <a:srgbClr val="38BDF8"/>
          </a:solidFill>
          <a:ln w="12700">
            <a:solidFill>
              <a:srgbClr val="38BDF8"/>
            </a:solidFill>
            <a:prstDash val="solid"/>
          </a:ln>
        </p:spPr>
        <p:txBody>
          <a:bodyPr/>
          <a:lstStyle/>
          <a:p>
            <a:endParaRPr lang="en-IE"/>
          </a:p>
        </p:txBody>
      </p:sp>
      <p:sp>
        <p:nvSpPr>
          <p:cNvPr id="10" name="Text 8"/>
          <p:cNvSpPr/>
          <p:nvPr/>
        </p:nvSpPr>
        <p:spPr>
          <a:xfrm>
            <a:off x="365760" y="1938528"/>
            <a:ext cx="347472" cy="347472"/>
          </a:xfrm>
          <a:prstGeom prst="rect">
            <a:avLst/>
          </a:prstGeom>
          <a:noFill/>
          <a:ln/>
        </p:spPr>
        <p:txBody>
          <a:bodyPr wrap="square" lIns="0" tIns="0" rIns="0" bIns="0" rtlCol="0" anchor="ctr"/>
          <a:lstStyle/>
          <a:p>
            <a:pPr marL="0" indent="0" algn="ctr">
              <a:buNone/>
            </a:pPr>
            <a:r>
              <a:rPr lang="en-US" sz="1200" b="1" dirty="0">
                <a:solidFill>
                  <a:srgbClr val="111827"/>
                </a:solidFill>
              </a:rPr>
              <a:t>2</a:t>
            </a:r>
            <a:endParaRPr lang="en-US" sz="1200" dirty="0"/>
          </a:p>
        </p:txBody>
      </p:sp>
      <p:sp>
        <p:nvSpPr>
          <p:cNvPr id="11" name="Text 9"/>
          <p:cNvSpPr/>
          <p:nvPr/>
        </p:nvSpPr>
        <p:spPr>
          <a:xfrm>
            <a:off x="822960" y="1956816"/>
            <a:ext cx="3474720" cy="310896"/>
          </a:xfrm>
          <a:prstGeom prst="rect">
            <a:avLst/>
          </a:prstGeom>
          <a:noFill/>
          <a:ln/>
        </p:spPr>
        <p:txBody>
          <a:bodyPr wrap="square" lIns="0" tIns="0" rIns="0" bIns="0" rtlCol="0" anchor="ctr"/>
          <a:lstStyle/>
          <a:p>
            <a:pPr marL="0" indent="0">
              <a:buNone/>
            </a:pPr>
            <a:r>
              <a:rPr lang="en-US" sz="1200" dirty="0">
                <a:solidFill>
                  <a:srgbClr val="F0F9FF"/>
                </a:solidFill>
                <a:latin typeface="Calibri" pitchFamily="34" charset="0"/>
                <a:ea typeface="Calibri" pitchFamily="34" charset="-122"/>
                <a:cs typeface="Calibri" pitchFamily="34" charset="-120"/>
              </a:rPr>
              <a:t>5-sample rolling average smoothing</a:t>
            </a:r>
            <a:endParaRPr lang="en-US" sz="1200" dirty="0"/>
          </a:p>
        </p:txBody>
      </p:sp>
      <p:sp>
        <p:nvSpPr>
          <p:cNvPr id="12" name="Shape 10"/>
          <p:cNvSpPr/>
          <p:nvPr/>
        </p:nvSpPr>
        <p:spPr>
          <a:xfrm>
            <a:off x="534924" y="2286000"/>
            <a:ext cx="0" cy="219456"/>
          </a:xfrm>
          <a:prstGeom prst="line">
            <a:avLst/>
          </a:prstGeom>
          <a:noFill/>
          <a:ln w="19050">
            <a:solidFill>
              <a:srgbClr val="38BDF8"/>
            </a:solidFill>
            <a:prstDash val="solid"/>
          </a:ln>
        </p:spPr>
        <p:txBody>
          <a:bodyPr/>
          <a:lstStyle/>
          <a:p>
            <a:endParaRPr lang="en-IE"/>
          </a:p>
        </p:txBody>
      </p:sp>
      <p:sp>
        <p:nvSpPr>
          <p:cNvPr id="13" name="Shape 11"/>
          <p:cNvSpPr/>
          <p:nvPr/>
        </p:nvSpPr>
        <p:spPr>
          <a:xfrm>
            <a:off x="365760" y="2505456"/>
            <a:ext cx="347472" cy="347472"/>
          </a:xfrm>
          <a:prstGeom prst="ellipse">
            <a:avLst/>
          </a:prstGeom>
          <a:solidFill>
            <a:srgbClr val="38BDF8"/>
          </a:solidFill>
          <a:ln w="12700">
            <a:solidFill>
              <a:srgbClr val="38BDF8"/>
            </a:solidFill>
            <a:prstDash val="solid"/>
          </a:ln>
        </p:spPr>
        <p:txBody>
          <a:bodyPr/>
          <a:lstStyle/>
          <a:p>
            <a:endParaRPr lang="en-IE"/>
          </a:p>
        </p:txBody>
      </p:sp>
      <p:sp>
        <p:nvSpPr>
          <p:cNvPr id="14" name="Text 12"/>
          <p:cNvSpPr/>
          <p:nvPr/>
        </p:nvSpPr>
        <p:spPr>
          <a:xfrm>
            <a:off x="365760" y="2505456"/>
            <a:ext cx="347472" cy="347472"/>
          </a:xfrm>
          <a:prstGeom prst="rect">
            <a:avLst/>
          </a:prstGeom>
          <a:noFill/>
          <a:ln/>
        </p:spPr>
        <p:txBody>
          <a:bodyPr wrap="square" lIns="0" tIns="0" rIns="0" bIns="0" rtlCol="0" anchor="ctr"/>
          <a:lstStyle/>
          <a:p>
            <a:pPr marL="0" indent="0" algn="ctr">
              <a:buNone/>
            </a:pPr>
            <a:r>
              <a:rPr lang="en-US" sz="1200" b="1" dirty="0">
                <a:solidFill>
                  <a:srgbClr val="111827"/>
                </a:solidFill>
              </a:rPr>
              <a:t>3</a:t>
            </a:r>
            <a:endParaRPr lang="en-US" sz="1200" dirty="0"/>
          </a:p>
        </p:txBody>
      </p:sp>
      <p:sp>
        <p:nvSpPr>
          <p:cNvPr id="15" name="Text 13"/>
          <p:cNvSpPr/>
          <p:nvPr/>
        </p:nvSpPr>
        <p:spPr>
          <a:xfrm>
            <a:off x="822960" y="2523744"/>
            <a:ext cx="3474720" cy="310896"/>
          </a:xfrm>
          <a:prstGeom prst="rect">
            <a:avLst/>
          </a:prstGeom>
          <a:noFill/>
          <a:ln/>
        </p:spPr>
        <p:txBody>
          <a:bodyPr wrap="square" lIns="0" tIns="0" rIns="0" bIns="0" rtlCol="0" anchor="ctr"/>
          <a:lstStyle/>
          <a:p>
            <a:pPr marL="0" indent="0">
              <a:buNone/>
            </a:pPr>
            <a:r>
              <a:rPr lang="en-US" sz="1200" dirty="0">
                <a:solidFill>
                  <a:srgbClr val="F0F9FF"/>
                </a:solidFill>
                <a:latin typeface="Calibri" pitchFamily="34" charset="0"/>
                <a:ea typeface="Calibri" pitchFamily="34" charset="-122"/>
                <a:cs typeface="Calibri" pitchFamily="34" charset="-120"/>
              </a:rPr>
              <a:t>Hysteresis check (±5cm buffer zone)</a:t>
            </a:r>
            <a:endParaRPr lang="en-US" sz="1200" dirty="0"/>
          </a:p>
        </p:txBody>
      </p:sp>
      <p:sp>
        <p:nvSpPr>
          <p:cNvPr id="16" name="Shape 14"/>
          <p:cNvSpPr/>
          <p:nvPr/>
        </p:nvSpPr>
        <p:spPr>
          <a:xfrm>
            <a:off x="534924" y="2852928"/>
            <a:ext cx="0" cy="219456"/>
          </a:xfrm>
          <a:prstGeom prst="line">
            <a:avLst/>
          </a:prstGeom>
          <a:noFill/>
          <a:ln w="19050">
            <a:solidFill>
              <a:srgbClr val="38BDF8"/>
            </a:solidFill>
            <a:prstDash val="solid"/>
          </a:ln>
        </p:spPr>
        <p:txBody>
          <a:bodyPr/>
          <a:lstStyle/>
          <a:p>
            <a:endParaRPr lang="en-IE"/>
          </a:p>
        </p:txBody>
      </p:sp>
      <p:sp>
        <p:nvSpPr>
          <p:cNvPr id="17" name="Shape 15"/>
          <p:cNvSpPr/>
          <p:nvPr/>
        </p:nvSpPr>
        <p:spPr>
          <a:xfrm>
            <a:off x="365760" y="3072384"/>
            <a:ext cx="347472" cy="347472"/>
          </a:xfrm>
          <a:prstGeom prst="ellipse">
            <a:avLst/>
          </a:prstGeom>
          <a:solidFill>
            <a:srgbClr val="38BDF8"/>
          </a:solidFill>
          <a:ln w="12700">
            <a:solidFill>
              <a:srgbClr val="38BDF8"/>
            </a:solidFill>
            <a:prstDash val="solid"/>
          </a:ln>
        </p:spPr>
        <p:txBody>
          <a:bodyPr/>
          <a:lstStyle/>
          <a:p>
            <a:endParaRPr lang="en-IE"/>
          </a:p>
        </p:txBody>
      </p:sp>
      <p:sp>
        <p:nvSpPr>
          <p:cNvPr id="18" name="Text 16"/>
          <p:cNvSpPr/>
          <p:nvPr/>
        </p:nvSpPr>
        <p:spPr>
          <a:xfrm>
            <a:off x="365760" y="3072384"/>
            <a:ext cx="347472" cy="347472"/>
          </a:xfrm>
          <a:prstGeom prst="rect">
            <a:avLst/>
          </a:prstGeom>
          <a:noFill/>
          <a:ln/>
        </p:spPr>
        <p:txBody>
          <a:bodyPr wrap="square" lIns="0" tIns="0" rIns="0" bIns="0" rtlCol="0" anchor="ctr"/>
          <a:lstStyle/>
          <a:p>
            <a:pPr marL="0" indent="0" algn="ctr">
              <a:buNone/>
            </a:pPr>
            <a:r>
              <a:rPr lang="en-US" sz="1200" b="1" dirty="0">
                <a:solidFill>
                  <a:srgbClr val="111827"/>
                </a:solidFill>
              </a:rPr>
              <a:t>4</a:t>
            </a:r>
            <a:endParaRPr lang="en-US" sz="1200" dirty="0"/>
          </a:p>
        </p:txBody>
      </p:sp>
      <p:sp>
        <p:nvSpPr>
          <p:cNvPr id="19" name="Text 17"/>
          <p:cNvSpPr/>
          <p:nvPr/>
        </p:nvSpPr>
        <p:spPr>
          <a:xfrm>
            <a:off x="822960" y="3090672"/>
            <a:ext cx="3474720" cy="310896"/>
          </a:xfrm>
          <a:prstGeom prst="rect">
            <a:avLst/>
          </a:prstGeom>
          <a:noFill/>
          <a:ln/>
        </p:spPr>
        <p:txBody>
          <a:bodyPr wrap="square" lIns="0" tIns="0" rIns="0" bIns="0" rtlCol="0" anchor="ctr"/>
          <a:lstStyle/>
          <a:p>
            <a:pPr marL="0" indent="0">
              <a:buNone/>
            </a:pPr>
            <a:r>
              <a:rPr lang="en-US" sz="1200" dirty="0">
                <a:solidFill>
                  <a:srgbClr val="F0F9FF"/>
                </a:solidFill>
                <a:latin typeface="Calibri" pitchFamily="34" charset="0"/>
                <a:ea typeface="Calibri" pitchFamily="34" charset="-122"/>
                <a:cs typeface="Calibri" pitchFamily="34" charset="-120"/>
              </a:rPr>
              <a:t>3-second minimum duration gate (avoid false positives)</a:t>
            </a:r>
            <a:endParaRPr lang="en-US" sz="1200" dirty="0"/>
          </a:p>
        </p:txBody>
      </p:sp>
      <p:sp>
        <p:nvSpPr>
          <p:cNvPr id="20" name="Shape 18"/>
          <p:cNvSpPr/>
          <p:nvPr/>
        </p:nvSpPr>
        <p:spPr>
          <a:xfrm>
            <a:off x="534924" y="3419856"/>
            <a:ext cx="0" cy="219456"/>
          </a:xfrm>
          <a:prstGeom prst="line">
            <a:avLst/>
          </a:prstGeom>
          <a:noFill/>
          <a:ln w="19050">
            <a:solidFill>
              <a:srgbClr val="38BDF8"/>
            </a:solidFill>
            <a:prstDash val="solid"/>
          </a:ln>
        </p:spPr>
        <p:txBody>
          <a:bodyPr/>
          <a:lstStyle/>
          <a:p>
            <a:endParaRPr lang="en-IE"/>
          </a:p>
        </p:txBody>
      </p:sp>
      <p:sp>
        <p:nvSpPr>
          <p:cNvPr id="21" name="Shape 19"/>
          <p:cNvSpPr/>
          <p:nvPr/>
        </p:nvSpPr>
        <p:spPr>
          <a:xfrm>
            <a:off x="365760" y="3639312"/>
            <a:ext cx="347472" cy="347472"/>
          </a:xfrm>
          <a:prstGeom prst="ellipse">
            <a:avLst/>
          </a:prstGeom>
          <a:solidFill>
            <a:srgbClr val="38BDF8"/>
          </a:solidFill>
          <a:ln w="12700">
            <a:solidFill>
              <a:srgbClr val="38BDF8"/>
            </a:solidFill>
            <a:prstDash val="solid"/>
          </a:ln>
        </p:spPr>
        <p:txBody>
          <a:bodyPr/>
          <a:lstStyle/>
          <a:p>
            <a:endParaRPr lang="en-IE"/>
          </a:p>
        </p:txBody>
      </p:sp>
      <p:sp>
        <p:nvSpPr>
          <p:cNvPr id="22" name="Text 20"/>
          <p:cNvSpPr/>
          <p:nvPr/>
        </p:nvSpPr>
        <p:spPr>
          <a:xfrm>
            <a:off x="365760" y="3639312"/>
            <a:ext cx="347472" cy="347472"/>
          </a:xfrm>
          <a:prstGeom prst="rect">
            <a:avLst/>
          </a:prstGeom>
          <a:noFill/>
          <a:ln/>
        </p:spPr>
        <p:txBody>
          <a:bodyPr wrap="square" lIns="0" tIns="0" rIns="0" bIns="0" rtlCol="0" anchor="ctr"/>
          <a:lstStyle/>
          <a:p>
            <a:pPr marL="0" indent="0" algn="ctr">
              <a:buNone/>
            </a:pPr>
            <a:r>
              <a:rPr lang="en-US" sz="1200" b="1" dirty="0">
                <a:solidFill>
                  <a:srgbClr val="111827"/>
                </a:solidFill>
              </a:rPr>
              <a:t>5</a:t>
            </a:r>
            <a:endParaRPr lang="en-US" sz="1200" dirty="0"/>
          </a:p>
        </p:txBody>
      </p:sp>
      <p:sp>
        <p:nvSpPr>
          <p:cNvPr id="23" name="Text 21"/>
          <p:cNvSpPr/>
          <p:nvPr/>
        </p:nvSpPr>
        <p:spPr>
          <a:xfrm>
            <a:off x="822960" y="3657600"/>
            <a:ext cx="3474720" cy="310896"/>
          </a:xfrm>
          <a:prstGeom prst="rect">
            <a:avLst/>
          </a:prstGeom>
          <a:noFill/>
          <a:ln/>
        </p:spPr>
        <p:txBody>
          <a:bodyPr wrap="square" lIns="0" tIns="0" rIns="0" bIns="0" rtlCol="0" anchor="ctr"/>
          <a:lstStyle/>
          <a:p>
            <a:pPr marL="0" indent="0">
              <a:buNone/>
            </a:pPr>
            <a:r>
              <a:rPr lang="en-US" sz="1200" dirty="0">
                <a:solidFill>
                  <a:srgbClr val="F0F9FF"/>
                </a:solidFill>
                <a:latin typeface="Calibri" pitchFamily="34" charset="0"/>
                <a:ea typeface="Calibri" pitchFamily="34" charset="-122"/>
                <a:cs typeface="Calibri" pitchFamily="34" charset="-120"/>
              </a:rPr>
              <a:t>State confirmed → DB event logged</a:t>
            </a:r>
            <a:endParaRPr lang="en-US" sz="1200" dirty="0"/>
          </a:p>
        </p:txBody>
      </p:sp>
      <p:sp>
        <p:nvSpPr>
          <p:cNvPr id="24" name="Text 22"/>
          <p:cNvSpPr/>
          <p:nvPr/>
        </p:nvSpPr>
        <p:spPr>
          <a:xfrm>
            <a:off x="4663440" y="960120"/>
            <a:ext cx="4114800" cy="320040"/>
          </a:xfrm>
          <a:prstGeom prst="rect">
            <a:avLst/>
          </a:prstGeom>
          <a:noFill/>
          <a:ln/>
        </p:spPr>
        <p:txBody>
          <a:bodyPr wrap="square" lIns="0" tIns="0" rIns="0" bIns="0" rtlCol="0" anchor="ctr"/>
          <a:lstStyle/>
          <a:p>
            <a:pPr marL="0" indent="0">
              <a:buNone/>
            </a:pPr>
            <a:r>
              <a:rPr lang="en-US" sz="1300" b="1" dirty="0">
                <a:solidFill>
                  <a:srgbClr val="A78BFA"/>
                </a:solidFill>
                <a:latin typeface="Trebuchet MS" pitchFamily="34" charset="0"/>
                <a:ea typeface="Trebuchet MS" pitchFamily="34" charset="-122"/>
                <a:cs typeface="Trebuchet MS" pitchFamily="34" charset="-120"/>
              </a:rPr>
              <a:t>MediaPipe Pose Slouch Detection</a:t>
            </a:r>
            <a:endParaRPr lang="en-US" sz="1300" dirty="0"/>
          </a:p>
        </p:txBody>
      </p:sp>
      <p:pic>
        <p:nvPicPr>
          <p:cNvPr id="25" name="Image 0" descr="preencoded.png"/>
          <p:cNvPicPr>
            <a:picLocks noChangeAspect="1"/>
          </p:cNvPicPr>
          <p:nvPr/>
        </p:nvPicPr>
        <p:blipFill>
          <a:blip r:embed="rId3"/>
          <a:stretch>
            <a:fillRect/>
          </a:stretch>
        </p:blipFill>
        <p:spPr>
          <a:xfrm>
            <a:off x="4663440" y="1353312"/>
            <a:ext cx="2103120" cy="2103120"/>
          </a:xfrm>
          <a:prstGeom prst="rect">
            <a:avLst/>
          </a:prstGeom>
        </p:spPr>
      </p:pic>
      <p:sp>
        <p:nvSpPr>
          <p:cNvPr id="26" name="Text 23"/>
          <p:cNvSpPr/>
          <p:nvPr/>
        </p:nvSpPr>
        <p:spPr>
          <a:xfrm>
            <a:off x="6876288" y="1353312"/>
            <a:ext cx="1920240" cy="2148840"/>
          </a:xfrm>
          <a:prstGeom prst="rect">
            <a:avLst/>
          </a:prstGeom>
          <a:noFill/>
          <a:ln/>
        </p:spPr>
        <p:txBody>
          <a:bodyPr wrap="square" lIns="0" tIns="0" rIns="0" bIns="0" rtlCol="0" anchor="ctr"/>
          <a:lstStyle/>
          <a:p>
            <a:pPr marL="342900" indent="-342900">
              <a:buSzPct val="100000"/>
              <a:buChar char="•"/>
            </a:pPr>
            <a:r>
              <a:rPr lang="en-US" sz="1000" dirty="0">
                <a:solidFill>
                  <a:srgbClr val="94A3B8"/>
                </a:solidFill>
                <a:latin typeface="Calibri" pitchFamily="34" charset="0"/>
                <a:ea typeface="Calibri" pitchFamily="34" charset="-122"/>
                <a:cs typeface="Calibri" pitchFamily="34" charset="-120"/>
              </a:rPr>
              <a:t>Tracks: LEFT_EAR, RIGHT_EAR, LEFT_SHOULDER, RIGHT_SHOULDER</a:t>
            </a:r>
            <a:endParaRPr lang="en-US" sz="1000" dirty="0"/>
          </a:p>
          <a:p>
            <a:pPr marL="342900" indent="-342900">
              <a:buSzPct val="100000"/>
              <a:buChar char="•"/>
            </a:pPr>
            <a:r>
              <a:rPr lang="en-US" sz="1000" dirty="0">
                <a:solidFill>
                  <a:srgbClr val="94A3B8"/>
                </a:solidFill>
                <a:latin typeface="Calibri" pitchFamily="34" charset="0"/>
                <a:ea typeface="Calibri" pitchFamily="34" charset="-122"/>
                <a:cs typeface="Calibri" pitchFamily="34" charset="-120"/>
              </a:rPr>
              <a:t>Ear span grows → head moves toward camera</a:t>
            </a:r>
            <a:endParaRPr lang="en-US" sz="1000" dirty="0"/>
          </a:p>
          <a:p>
            <a:pPr marL="342900" indent="-342900">
              <a:buSzPct val="100000"/>
              <a:buChar char="•"/>
            </a:pPr>
            <a:r>
              <a:rPr lang="en-US" sz="1000" dirty="0">
                <a:solidFill>
                  <a:srgbClr val="94A3B8"/>
                </a:solidFill>
                <a:latin typeface="Calibri" pitchFamily="34" charset="0"/>
                <a:ea typeface="Calibri" pitchFamily="34" charset="-122"/>
                <a:cs typeface="Calibri" pitchFamily="34" charset="-120"/>
              </a:rPr>
              <a:t>Head-shoulder gap shrinks → forward lean</a:t>
            </a:r>
            <a:endParaRPr lang="en-US" sz="1000" dirty="0"/>
          </a:p>
          <a:p>
            <a:pPr marL="342900" indent="-342900">
              <a:buSzPct val="100000"/>
              <a:buChar char="•"/>
            </a:pPr>
            <a:r>
              <a:rPr lang="en-US" sz="1000" dirty="0">
                <a:solidFill>
                  <a:srgbClr val="94A3B8"/>
                </a:solidFill>
                <a:latin typeface="Calibri" pitchFamily="34" charset="0"/>
                <a:ea typeface="Calibri" pitchFamily="34" charset="-122"/>
                <a:cs typeface="Calibri" pitchFamily="34" charset="-120"/>
              </a:rPr>
              <a:t>Score 0–100 vs calibrated good-posture baseline</a:t>
            </a:r>
            <a:endParaRPr lang="en-US" sz="1000" dirty="0"/>
          </a:p>
          <a:p>
            <a:pPr marL="342900" indent="-342900">
              <a:buSzPct val="100000"/>
              <a:buChar char="•"/>
            </a:pPr>
            <a:r>
              <a:rPr lang="en-US" sz="1000" dirty="0">
                <a:solidFill>
                  <a:srgbClr val="94A3B8"/>
                </a:solidFill>
                <a:latin typeface="Calibri" pitchFamily="34" charset="0"/>
                <a:ea typeface="Calibri" pitchFamily="34" charset="-122"/>
                <a:cs typeface="Calibri" pitchFamily="34" charset="-120"/>
              </a:rPr>
              <a:t>15% tolerance each axis · 1.5s state gate</a:t>
            </a:r>
            <a:endParaRPr lang="en-US" sz="1000" dirty="0"/>
          </a:p>
          <a:p>
            <a:pPr marL="342900" indent="-342900">
              <a:buSzPct val="100000"/>
              <a:buChar char="•"/>
            </a:pPr>
            <a:r>
              <a:rPr lang="en-US" sz="1000" dirty="0">
                <a:solidFill>
                  <a:srgbClr val="94A3B8"/>
                </a:solidFill>
                <a:latin typeface="Calibri" pitchFamily="34" charset="0"/>
                <a:ea typeface="Calibri" pitchFamily="34" charset="-122"/>
                <a:cs typeface="Calibri" pitchFamily="34" charset="-120"/>
              </a:rPr>
              <a:t>Browser notification after 30s slouching</a:t>
            </a:r>
            <a:endParaRPr lang="en-US" sz="1000" dirty="0"/>
          </a:p>
        </p:txBody>
      </p:sp>
      <p:sp>
        <p:nvSpPr>
          <p:cNvPr id="27" name="Shape 24"/>
          <p:cNvSpPr/>
          <p:nvPr/>
        </p:nvSpPr>
        <p:spPr>
          <a:xfrm>
            <a:off x="365760" y="4315968"/>
            <a:ext cx="960120" cy="548640"/>
          </a:xfrm>
          <a:prstGeom prst="rect">
            <a:avLst/>
          </a:prstGeom>
          <a:solidFill>
            <a:srgbClr val="16A34A"/>
          </a:solidFill>
          <a:ln w="12700">
            <a:solidFill>
              <a:srgbClr val="16A34A"/>
            </a:solidFill>
            <a:prstDash val="solid"/>
          </a:ln>
        </p:spPr>
        <p:txBody>
          <a:bodyPr/>
          <a:lstStyle/>
          <a:p>
            <a:endParaRPr lang="en-IE"/>
          </a:p>
        </p:txBody>
      </p:sp>
      <p:sp>
        <p:nvSpPr>
          <p:cNvPr id="28" name="Text 25"/>
          <p:cNvSpPr/>
          <p:nvPr/>
        </p:nvSpPr>
        <p:spPr>
          <a:xfrm>
            <a:off x="365760" y="4334256"/>
            <a:ext cx="960120" cy="246888"/>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Quiet</a:t>
            </a:r>
            <a:endParaRPr lang="en-US" sz="1100" dirty="0"/>
          </a:p>
        </p:txBody>
      </p:sp>
      <p:sp>
        <p:nvSpPr>
          <p:cNvPr id="29" name="Text 26"/>
          <p:cNvSpPr/>
          <p:nvPr/>
        </p:nvSpPr>
        <p:spPr>
          <a:xfrm>
            <a:off x="365760" y="4581144"/>
            <a:ext cx="960120" cy="23774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&lt; 50 dB</a:t>
            </a:r>
            <a:endParaRPr lang="en-US" sz="950" dirty="0"/>
          </a:p>
        </p:txBody>
      </p:sp>
      <p:sp>
        <p:nvSpPr>
          <p:cNvPr id="30" name="Shape 27"/>
          <p:cNvSpPr/>
          <p:nvPr/>
        </p:nvSpPr>
        <p:spPr>
          <a:xfrm>
            <a:off x="1417320" y="4315968"/>
            <a:ext cx="960120" cy="548640"/>
          </a:xfrm>
          <a:prstGeom prst="rect">
            <a:avLst/>
          </a:prstGeom>
          <a:solidFill>
            <a:srgbClr val="2563EB"/>
          </a:solidFill>
          <a:ln w="12700">
            <a:solidFill>
              <a:srgbClr val="2563EB"/>
            </a:solidFill>
            <a:prstDash val="solid"/>
          </a:ln>
        </p:spPr>
        <p:txBody>
          <a:bodyPr/>
          <a:lstStyle/>
          <a:p>
            <a:endParaRPr lang="en-IE"/>
          </a:p>
        </p:txBody>
      </p:sp>
      <p:sp>
        <p:nvSpPr>
          <p:cNvPr id="31" name="Text 28"/>
          <p:cNvSpPr/>
          <p:nvPr/>
        </p:nvSpPr>
        <p:spPr>
          <a:xfrm>
            <a:off x="1417320" y="4334256"/>
            <a:ext cx="960120" cy="246888"/>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Normal</a:t>
            </a:r>
            <a:endParaRPr lang="en-US" sz="1100" dirty="0"/>
          </a:p>
        </p:txBody>
      </p:sp>
      <p:sp>
        <p:nvSpPr>
          <p:cNvPr id="32" name="Text 29"/>
          <p:cNvSpPr/>
          <p:nvPr/>
        </p:nvSpPr>
        <p:spPr>
          <a:xfrm>
            <a:off x="1417320" y="4581144"/>
            <a:ext cx="960120" cy="23774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50–60</a:t>
            </a:r>
            <a:endParaRPr lang="en-US" sz="950" dirty="0"/>
          </a:p>
        </p:txBody>
      </p:sp>
      <p:sp>
        <p:nvSpPr>
          <p:cNvPr id="33" name="Shape 30"/>
          <p:cNvSpPr/>
          <p:nvPr/>
        </p:nvSpPr>
        <p:spPr>
          <a:xfrm>
            <a:off x="2468880" y="4315968"/>
            <a:ext cx="960120" cy="548640"/>
          </a:xfrm>
          <a:prstGeom prst="rect">
            <a:avLst/>
          </a:prstGeom>
          <a:solidFill>
            <a:srgbClr val="D97706"/>
          </a:solidFill>
          <a:ln w="12700">
            <a:solidFill>
              <a:srgbClr val="D97706"/>
            </a:solidFill>
            <a:prstDash val="solid"/>
          </a:ln>
        </p:spPr>
        <p:txBody>
          <a:bodyPr/>
          <a:lstStyle/>
          <a:p>
            <a:endParaRPr lang="en-IE"/>
          </a:p>
        </p:txBody>
      </p:sp>
      <p:sp>
        <p:nvSpPr>
          <p:cNvPr id="34" name="Text 31"/>
          <p:cNvSpPr/>
          <p:nvPr/>
        </p:nvSpPr>
        <p:spPr>
          <a:xfrm>
            <a:off x="2468880" y="4334256"/>
            <a:ext cx="960120" cy="246888"/>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Moderate</a:t>
            </a:r>
            <a:endParaRPr lang="en-US" sz="1100" dirty="0"/>
          </a:p>
        </p:txBody>
      </p:sp>
      <p:sp>
        <p:nvSpPr>
          <p:cNvPr id="35" name="Text 32"/>
          <p:cNvSpPr/>
          <p:nvPr/>
        </p:nvSpPr>
        <p:spPr>
          <a:xfrm>
            <a:off x="2468880" y="4581144"/>
            <a:ext cx="960120" cy="23774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60–70</a:t>
            </a:r>
            <a:endParaRPr lang="en-US" sz="950" dirty="0"/>
          </a:p>
        </p:txBody>
      </p:sp>
      <p:sp>
        <p:nvSpPr>
          <p:cNvPr id="36" name="Shape 33"/>
          <p:cNvSpPr/>
          <p:nvPr/>
        </p:nvSpPr>
        <p:spPr>
          <a:xfrm>
            <a:off x="3520440" y="4315968"/>
            <a:ext cx="960120" cy="548640"/>
          </a:xfrm>
          <a:prstGeom prst="rect">
            <a:avLst/>
          </a:prstGeom>
          <a:solidFill>
            <a:srgbClr val="DC2626"/>
          </a:solidFill>
          <a:ln w="12700">
            <a:solidFill>
              <a:srgbClr val="DC2626"/>
            </a:solidFill>
            <a:prstDash val="solid"/>
          </a:ln>
        </p:spPr>
        <p:txBody>
          <a:bodyPr/>
          <a:lstStyle/>
          <a:p>
            <a:endParaRPr lang="en-IE"/>
          </a:p>
        </p:txBody>
      </p:sp>
      <p:sp>
        <p:nvSpPr>
          <p:cNvPr id="37" name="Text 34"/>
          <p:cNvSpPr/>
          <p:nvPr/>
        </p:nvSpPr>
        <p:spPr>
          <a:xfrm>
            <a:off x="3520440" y="4334256"/>
            <a:ext cx="960120" cy="246888"/>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Loud</a:t>
            </a:r>
            <a:endParaRPr lang="en-US" sz="1100" dirty="0"/>
          </a:p>
        </p:txBody>
      </p:sp>
      <p:sp>
        <p:nvSpPr>
          <p:cNvPr id="38" name="Text 35"/>
          <p:cNvSpPr/>
          <p:nvPr/>
        </p:nvSpPr>
        <p:spPr>
          <a:xfrm>
            <a:off x="3520440" y="4581144"/>
            <a:ext cx="960120" cy="23774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&gt; 70 dB</a:t>
            </a:r>
            <a:endParaRPr lang="en-US" sz="950" dirty="0"/>
          </a:p>
        </p:txBody>
      </p:sp>
      <p:sp>
        <p:nvSpPr>
          <p:cNvPr id="39" name="Text 36"/>
          <p:cNvSpPr/>
          <p:nvPr/>
        </p:nvSpPr>
        <p:spPr>
          <a:xfrm>
            <a:off x="4663440" y="4352544"/>
            <a:ext cx="4114800" cy="41148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All noise thresholds configurable per environment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400" b="1" dirty="0">
                <a:solidFill>
                  <a:srgbClr val="F0F9FF"/>
                </a:solidFill>
                <a:latin typeface="Trebuchet MS" pitchFamily="34" charset="0"/>
                <a:ea typeface="Trebuchet MS" pitchFamily="34" charset="-122"/>
                <a:cs typeface="Trebuchet MS" pitchFamily="34" charset="-120"/>
              </a:rPr>
              <a:t>History and Settings</a:t>
            </a:r>
            <a:endParaRPr lang="en-US" sz="3400" dirty="0"/>
          </a:p>
        </p:txBody>
      </p:sp>
      <p:sp>
        <p:nvSpPr>
          <p:cNvPr id="3" name="Shape 1"/>
          <p:cNvSpPr/>
          <p:nvPr/>
        </p:nvSpPr>
        <p:spPr>
          <a:xfrm>
            <a:off x="457200" y="786384"/>
            <a:ext cx="8046720" cy="27432"/>
          </a:xfrm>
          <a:prstGeom prst="rect">
            <a:avLst/>
          </a:prstGeom>
          <a:solidFill>
            <a:srgbClr val="38BDF8"/>
          </a:solidFill>
          <a:ln w="12700">
            <a:solidFill>
              <a:srgbClr val="38BDF8"/>
            </a:solidFill>
            <a:prstDash val="solid"/>
          </a:ln>
        </p:spPr>
        <p:txBody>
          <a:bodyPr/>
          <a:lstStyle/>
          <a:p>
            <a:endParaRPr lang="en-IE"/>
          </a:p>
        </p:txBody>
      </p:sp>
      <p:sp>
        <p:nvSpPr>
          <p:cNvPr id="4" name="Text 2"/>
          <p:cNvSpPr/>
          <p:nvPr/>
        </p:nvSpPr>
        <p:spPr>
          <a:xfrm>
            <a:off x="365760" y="914400"/>
            <a:ext cx="4114800" cy="292608"/>
          </a:xfrm>
          <a:prstGeom prst="rect">
            <a:avLst/>
          </a:prstGeom>
          <a:noFill/>
          <a:ln/>
        </p:spPr>
        <p:txBody>
          <a:bodyPr wrap="square" lIns="0" tIns="0" rIns="0" bIns="0" rtlCol="0" anchor="ctr"/>
          <a:lstStyle/>
          <a:p>
            <a:pPr marL="0" indent="0">
              <a:buNone/>
            </a:pPr>
            <a:r>
              <a:rPr lang="en-US" sz="1200" b="1" dirty="0">
                <a:solidFill>
                  <a:srgbClr val="38BDF8"/>
                </a:solidFill>
                <a:latin typeface="Trebuchet MS" pitchFamily="34" charset="0"/>
                <a:ea typeface="Trebuchet MS" pitchFamily="34" charset="-122"/>
                <a:cs typeface="Trebuchet MS" pitchFamily="34" charset="-120"/>
              </a:rPr>
              <a:t>History Page</a:t>
            </a:r>
            <a:endParaRPr lang="en-US" sz="1200" dirty="0"/>
          </a:p>
        </p:txBody>
      </p:sp>
      <p:pic>
        <p:nvPicPr>
          <p:cNvPr id="5" name="Image 0" descr="preencoded.png"/>
          <p:cNvPicPr>
            <a:picLocks noChangeAspect="1"/>
          </p:cNvPicPr>
          <p:nvPr/>
        </p:nvPicPr>
        <p:blipFill>
          <a:blip r:embed="rId3"/>
          <a:stretch>
            <a:fillRect/>
          </a:stretch>
        </p:blipFill>
        <p:spPr>
          <a:xfrm>
            <a:off x="365760" y="1252728"/>
            <a:ext cx="4206240" cy="2377440"/>
          </a:xfrm>
          <a:prstGeom prst="rect">
            <a:avLst/>
          </a:prstGeom>
        </p:spPr>
      </p:pic>
      <p:sp>
        <p:nvSpPr>
          <p:cNvPr id="6" name="Text 3"/>
          <p:cNvSpPr/>
          <p:nvPr/>
        </p:nvSpPr>
        <p:spPr>
          <a:xfrm>
            <a:off x="365760" y="3703320"/>
            <a:ext cx="4206240" cy="8229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Time-series charts: temperature, humidity, distance, noise.</a:t>
            </a:r>
            <a:endParaRPr lang="en-US" sz="1050" dirty="0"/>
          </a:p>
          <a:p>
            <a:pPr marL="0" indent="0">
              <a:buNone/>
            </a:pPr>
            <a:r>
              <a:rPr lang="en-US" sz="1050" dirty="0">
                <a:solidFill>
                  <a:srgbClr val="94A3B8"/>
                </a:solidFill>
                <a:latin typeface="Calibri" pitchFamily="34" charset="0"/>
                <a:ea typeface="Calibri" pitchFamily="34" charset="-122"/>
                <a:cs typeface="Calibri" pitchFamily="34" charset="-120"/>
              </a:rPr>
              <a:t>1h / 6h / 24h / 7d time range. Server-side time-windowed SQL queries with composite indexes on (sensor, ts).</a:t>
            </a:r>
            <a:endParaRPr lang="en-US" sz="1050" dirty="0"/>
          </a:p>
        </p:txBody>
      </p:sp>
      <p:sp>
        <p:nvSpPr>
          <p:cNvPr id="7" name="Text 4"/>
          <p:cNvSpPr/>
          <p:nvPr/>
        </p:nvSpPr>
        <p:spPr>
          <a:xfrm>
            <a:off x="4754880" y="914400"/>
            <a:ext cx="4114800" cy="292608"/>
          </a:xfrm>
          <a:prstGeom prst="rect">
            <a:avLst/>
          </a:prstGeom>
          <a:noFill/>
          <a:ln/>
        </p:spPr>
        <p:txBody>
          <a:bodyPr wrap="square" lIns="0" tIns="0" rIns="0" bIns="0" rtlCol="0" anchor="ctr"/>
          <a:lstStyle/>
          <a:p>
            <a:pPr marL="0" indent="0">
              <a:buNone/>
            </a:pPr>
            <a:r>
              <a:rPr lang="en-US" sz="1200" b="1" dirty="0">
                <a:solidFill>
                  <a:srgbClr val="A78BFA"/>
                </a:solidFill>
                <a:latin typeface="Trebuchet MS" pitchFamily="34" charset="0"/>
                <a:ea typeface="Trebuchet MS" pitchFamily="34" charset="-122"/>
                <a:cs typeface="Trebuchet MS" pitchFamily="34" charset="-120"/>
              </a:rPr>
              <a:t>Settings Page</a:t>
            </a:r>
            <a:endParaRPr lang="en-US" sz="1200" dirty="0"/>
          </a:p>
        </p:txBody>
      </p:sp>
      <p:pic>
        <p:nvPicPr>
          <p:cNvPr id="8" name="Image 1" descr="preencoded.png"/>
          <p:cNvPicPr>
            <a:picLocks noChangeAspect="1"/>
          </p:cNvPicPr>
          <p:nvPr/>
        </p:nvPicPr>
        <p:blipFill>
          <a:blip r:embed="rId4"/>
          <a:stretch>
            <a:fillRect/>
          </a:stretch>
        </p:blipFill>
        <p:spPr>
          <a:xfrm>
            <a:off x="4754880" y="1252728"/>
            <a:ext cx="2084832" cy="2377440"/>
          </a:xfrm>
          <a:prstGeom prst="rect">
            <a:avLst/>
          </a:prstGeom>
        </p:spPr>
      </p:pic>
      <p:sp>
        <p:nvSpPr>
          <p:cNvPr id="9" name="Text 5"/>
          <p:cNvSpPr/>
          <p:nvPr/>
        </p:nvSpPr>
        <p:spPr>
          <a:xfrm>
            <a:off x="6949440" y="1252728"/>
            <a:ext cx="1828800" cy="2377440"/>
          </a:xfrm>
          <a:prstGeom prst="rect">
            <a:avLst/>
          </a:prstGeom>
          <a:noFill/>
          <a:ln/>
        </p:spPr>
        <p:txBody>
          <a:bodyPr wrap="square" lIns="0" tIns="0" rIns="0" bIns="0" rtlCol="0" anchor="ctr"/>
          <a:lstStyle/>
          <a:p>
            <a:pPr marL="342900" indent="-342900">
              <a:buSzPct val="100000"/>
              <a:buChar char="•"/>
            </a:pPr>
            <a:r>
              <a:rPr lang="en-US" sz="1000" dirty="0">
                <a:solidFill>
                  <a:srgbClr val="94A3B8"/>
                </a:solidFill>
                <a:latin typeface="Calibri" pitchFamily="34" charset="0"/>
                <a:ea typeface="Calibri" pitchFamily="34" charset="-122"/>
                <a:cs typeface="Calibri" pitchFamily="34" charset="-120"/>
              </a:rPr>
              <a:t>Sitting height + standing offset → computed threshold</a:t>
            </a:r>
            <a:endParaRPr lang="en-US" sz="1000" dirty="0"/>
          </a:p>
          <a:p>
            <a:pPr marL="342900" indent="-342900">
              <a:buSzPct val="100000"/>
              <a:buChar char="•"/>
            </a:pPr>
            <a:r>
              <a:rPr lang="en-US" sz="1000" dirty="0">
                <a:solidFill>
                  <a:srgbClr val="94A3B8"/>
                </a:solidFill>
                <a:latin typeface="Calibri" pitchFamily="34" charset="0"/>
                <a:ea typeface="Calibri" pitchFamily="34" charset="-122"/>
                <a:cs typeface="Calibri" pitchFamily="34" charset="-120"/>
              </a:rPr>
              <a:t>Automatic calibration: record both heights in-situ</a:t>
            </a:r>
            <a:endParaRPr lang="en-US" sz="1000" dirty="0"/>
          </a:p>
          <a:p>
            <a:pPr marL="342900" indent="-342900">
              <a:buSzPct val="100000"/>
              <a:buChar char="•"/>
            </a:pPr>
            <a:r>
              <a:rPr lang="en-US" sz="1000" dirty="0">
                <a:solidFill>
                  <a:srgbClr val="94A3B8"/>
                </a:solidFill>
                <a:latin typeface="Calibri" pitchFamily="34" charset="0"/>
                <a:ea typeface="Calibri" pitchFamily="34" charset="-122"/>
                <a:cs typeface="Calibri" pitchFamily="34" charset="-120"/>
              </a:rPr>
              <a:t>Noise band thresholds all configurable</a:t>
            </a:r>
            <a:endParaRPr lang="en-US" sz="1000" dirty="0"/>
          </a:p>
          <a:p>
            <a:pPr marL="342900" indent="-342900">
              <a:buSzPct val="100000"/>
              <a:buChar char="•"/>
            </a:pPr>
            <a:r>
              <a:rPr lang="en-US" sz="1000" dirty="0">
                <a:solidFill>
                  <a:srgbClr val="94A3B8"/>
                </a:solidFill>
                <a:latin typeface="Calibri" pitchFamily="34" charset="0"/>
                <a:ea typeface="Calibri" pitchFamily="34" charset="-122"/>
                <a:cs typeface="Calibri" pitchFamily="34" charset="-120"/>
              </a:rPr>
              <a:t>10-second good-posture webcam baseline capture</a:t>
            </a:r>
            <a:endParaRPr lang="en-US" sz="1000" dirty="0"/>
          </a:p>
          <a:p>
            <a:pPr marL="342900" indent="-342900">
              <a:buSzPct val="100000"/>
              <a:buChar char="•"/>
            </a:pPr>
            <a:r>
              <a:rPr lang="en-US" sz="1000" dirty="0">
                <a:solidFill>
                  <a:srgbClr val="94A3B8"/>
                </a:solidFill>
                <a:latin typeface="Calibri" pitchFamily="34" charset="0"/>
                <a:ea typeface="Calibri" pitchFamily="34" charset="-122"/>
                <a:cs typeface="Calibri" pitchFamily="34" charset="-120"/>
              </a:rPr>
              <a:t>Ear span and head drop tolerances adjustable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400" b="1" dirty="0">
                <a:solidFill>
                  <a:srgbClr val="F0F9FF"/>
                </a:solidFill>
                <a:latin typeface="Trebuchet MS" pitchFamily="34" charset="0"/>
                <a:ea typeface="Trebuchet MS" pitchFamily="34" charset="-122"/>
                <a:cs typeface="Trebuchet MS" pitchFamily="34" charset="-120"/>
              </a:rPr>
              <a:t>Challenges</a:t>
            </a:r>
            <a:endParaRPr lang="en-US" sz="3400" dirty="0"/>
          </a:p>
        </p:txBody>
      </p:sp>
      <p:sp>
        <p:nvSpPr>
          <p:cNvPr id="3" name="Shape 1"/>
          <p:cNvSpPr/>
          <p:nvPr/>
        </p:nvSpPr>
        <p:spPr>
          <a:xfrm>
            <a:off x="457200" y="786384"/>
            <a:ext cx="8046720" cy="27432"/>
          </a:xfrm>
          <a:prstGeom prst="rect">
            <a:avLst/>
          </a:prstGeom>
          <a:solidFill>
            <a:srgbClr val="38BDF8"/>
          </a:solidFill>
          <a:ln w="12700">
            <a:solidFill>
              <a:srgbClr val="38BDF8"/>
            </a:solidFill>
            <a:prstDash val="solid"/>
          </a:ln>
        </p:spPr>
        <p:txBody>
          <a:bodyPr/>
          <a:lstStyle/>
          <a:p>
            <a:endParaRPr lang="en-IE"/>
          </a:p>
        </p:txBody>
      </p:sp>
      <p:sp>
        <p:nvSpPr>
          <p:cNvPr id="4" name="Shape 2"/>
          <p:cNvSpPr/>
          <p:nvPr/>
        </p:nvSpPr>
        <p:spPr>
          <a:xfrm>
            <a:off x="365760" y="987552"/>
            <a:ext cx="4023360" cy="1234440"/>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5" name="Shape 3"/>
          <p:cNvSpPr/>
          <p:nvPr/>
        </p:nvSpPr>
        <p:spPr>
          <a:xfrm>
            <a:off x="365760" y="987552"/>
            <a:ext cx="64008" cy="1234440"/>
          </a:xfrm>
          <a:prstGeom prst="rect">
            <a:avLst/>
          </a:prstGeom>
          <a:solidFill>
            <a:srgbClr val="EF4444"/>
          </a:solidFill>
          <a:ln w="12700">
            <a:solidFill>
              <a:srgbClr val="EF4444"/>
            </a:solidFill>
            <a:prstDash val="solid"/>
          </a:ln>
        </p:spPr>
        <p:txBody>
          <a:bodyPr/>
          <a:lstStyle/>
          <a:p>
            <a:endParaRPr lang="en-IE"/>
          </a:p>
        </p:txBody>
      </p:sp>
      <p:sp>
        <p:nvSpPr>
          <p:cNvPr id="6" name="Text 4"/>
          <p:cNvSpPr/>
          <p:nvPr/>
        </p:nvSpPr>
        <p:spPr>
          <a:xfrm>
            <a:off x="502920" y="1060704"/>
            <a:ext cx="3794760" cy="256032"/>
          </a:xfrm>
          <a:prstGeom prst="rect">
            <a:avLst/>
          </a:prstGeom>
          <a:noFill/>
          <a:ln/>
        </p:spPr>
        <p:txBody>
          <a:bodyPr wrap="square" lIns="0" tIns="0" rIns="0" bIns="0" rtlCol="0" anchor="ctr"/>
          <a:lstStyle/>
          <a:p>
            <a:pPr marL="0" indent="0">
              <a:buNone/>
            </a:pPr>
            <a:r>
              <a:rPr lang="en-US" sz="1200" b="1" dirty="0">
                <a:solidFill>
                  <a:srgbClr val="F0F9FF"/>
                </a:solidFill>
                <a:latin typeface="Trebuchet MS" pitchFamily="34" charset="0"/>
                <a:ea typeface="Trebuchet MS" pitchFamily="34" charset="-122"/>
                <a:cs typeface="Trebuchet MS" pitchFamily="34" charset="-120"/>
              </a:rPr>
              <a:t>ESP32-S3 Hardware Fault</a:t>
            </a:r>
            <a:endParaRPr lang="en-US" sz="1200" dirty="0"/>
          </a:p>
        </p:txBody>
      </p:sp>
      <p:sp>
        <p:nvSpPr>
          <p:cNvPr id="7" name="Text 5"/>
          <p:cNvSpPr/>
          <p:nvPr/>
        </p:nvSpPr>
        <p:spPr>
          <a:xfrm>
            <a:off x="502920" y="1335024"/>
            <a:ext cx="3794760" cy="36576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Problem: Bought for onboard camera. Overheated immediately, produced corrupted frames, reset randomly.</a:t>
            </a:r>
            <a:endParaRPr lang="en-US" sz="950" dirty="0"/>
          </a:p>
        </p:txBody>
      </p:sp>
      <p:sp>
        <p:nvSpPr>
          <p:cNvPr id="8" name="Text 6"/>
          <p:cNvSpPr/>
          <p:nvPr/>
        </p:nvSpPr>
        <p:spPr>
          <a:xfrm>
            <a:off x="502920" y="1719072"/>
            <a:ext cx="3794760" cy="402336"/>
          </a:xfrm>
          <a:prstGeom prst="rect">
            <a:avLst/>
          </a:prstGeom>
          <a:noFill/>
          <a:ln/>
        </p:spPr>
        <p:txBody>
          <a:bodyPr wrap="square" lIns="0" tIns="0" rIns="0" bIns="0" rtlCol="0" anchor="ctr"/>
          <a:lstStyle/>
          <a:p>
            <a:pPr marL="0" indent="0">
              <a:buNone/>
            </a:pPr>
            <a:r>
              <a:rPr lang="en-US" sz="950" dirty="0">
                <a:solidFill>
                  <a:srgbClr val="4ADE80"/>
                </a:solidFill>
                <a:latin typeface="Calibri" pitchFamily="34" charset="0"/>
                <a:ea typeface="Calibri" pitchFamily="34" charset="-122"/>
                <a:cs typeface="Calibri" pitchFamily="34" charset="-120"/>
              </a:rPr>
              <a:t>Fix: Switched to standard ESP32 + host webcam. Better camera quality and more CPU for MediaPipe.</a:t>
            </a:r>
            <a:endParaRPr lang="en-US" sz="950" dirty="0"/>
          </a:p>
        </p:txBody>
      </p:sp>
      <p:sp>
        <p:nvSpPr>
          <p:cNvPr id="9" name="Shape 7"/>
          <p:cNvSpPr/>
          <p:nvPr/>
        </p:nvSpPr>
        <p:spPr>
          <a:xfrm>
            <a:off x="4663440" y="987552"/>
            <a:ext cx="4023360" cy="1234440"/>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10" name="Shape 8"/>
          <p:cNvSpPr/>
          <p:nvPr/>
        </p:nvSpPr>
        <p:spPr>
          <a:xfrm>
            <a:off x="4663440" y="987552"/>
            <a:ext cx="64008" cy="1234440"/>
          </a:xfrm>
          <a:prstGeom prst="rect">
            <a:avLst/>
          </a:prstGeom>
          <a:solidFill>
            <a:srgbClr val="F97316"/>
          </a:solidFill>
          <a:ln w="12700">
            <a:solidFill>
              <a:srgbClr val="F97316"/>
            </a:solidFill>
            <a:prstDash val="solid"/>
          </a:ln>
        </p:spPr>
        <p:txBody>
          <a:bodyPr/>
          <a:lstStyle/>
          <a:p>
            <a:endParaRPr lang="en-IE"/>
          </a:p>
        </p:txBody>
      </p:sp>
      <p:sp>
        <p:nvSpPr>
          <p:cNvPr id="11" name="Text 9"/>
          <p:cNvSpPr/>
          <p:nvPr/>
        </p:nvSpPr>
        <p:spPr>
          <a:xfrm>
            <a:off x="4800600" y="1060704"/>
            <a:ext cx="3794760" cy="256032"/>
          </a:xfrm>
          <a:prstGeom prst="rect">
            <a:avLst/>
          </a:prstGeom>
          <a:noFill/>
          <a:ln/>
        </p:spPr>
        <p:txBody>
          <a:bodyPr wrap="square" lIns="0" tIns="0" rIns="0" bIns="0" rtlCol="0" anchor="ctr"/>
          <a:lstStyle/>
          <a:p>
            <a:pPr marL="0" indent="0">
              <a:buNone/>
            </a:pPr>
            <a:r>
              <a:rPr lang="en-US" sz="1200" b="1" dirty="0">
                <a:solidFill>
                  <a:srgbClr val="F0F9FF"/>
                </a:solidFill>
                <a:latin typeface="Trebuchet MS" pitchFamily="34" charset="0"/>
                <a:ea typeface="Trebuchet MS" pitchFamily="34" charset="-122"/>
                <a:cs typeface="Trebuchet MS" pitchFamily="34" charset="-120"/>
              </a:rPr>
              <a:t>3 Posture Detection Attempts</a:t>
            </a:r>
            <a:endParaRPr lang="en-US" sz="1200" dirty="0"/>
          </a:p>
        </p:txBody>
      </p:sp>
      <p:sp>
        <p:nvSpPr>
          <p:cNvPr id="12" name="Text 10"/>
          <p:cNvSpPr/>
          <p:nvPr/>
        </p:nvSpPr>
        <p:spPr>
          <a:xfrm>
            <a:off x="4800600" y="1335024"/>
            <a:ext cx="3794760" cy="36576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Problem: S3 camera failed. Face bounding-box area too sensitive to lighting and auto-exposure.</a:t>
            </a:r>
            <a:endParaRPr lang="en-US" sz="950" dirty="0"/>
          </a:p>
        </p:txBody>
      </p:sp>
      <p:sp>
        <p:nvSpPr>
          <p:cNvPr id="13" name="Text 11"/>
          <p:cNvSpPr/>
          <p:nvPr/>
        </p:nvSpPr>
        <p:spPr>
          <a:xfrm>
            <a:off x="4800600" y="1719072"/>
            <a:ext cx="3794760" cy="402336"/>
          </a:xfrm>
          <a:prstGeom prst="rect">
            <a:avLst/>
          </a:prstGeom>
          <a:noFill/>
          <a:ln/>
        </p:spPr>
        <p:txBody>
          <a:bodyPr wrap="square" lIns="0" tIns="0" rIns="0" bIns="0" rtlCol="0" anchor="ctr"/>
          <a:lstStyle/>
          <a:p>
            <a:pPr marL="0" indent="0">
              <a:buNone/>
            </a:pPr>
            <a:r>
              <a:rPr lang="en-US" sz="950" dirty="0">
                <a:solidFill>
                  <a:srgbClr val="4ADE80"/>
                </a:solidFill>
                <a:latin typeface="Calibri" pitchFamily="34" charset="0"/>
                <a:ea typeface="Calibri" pitchFamily="34" charset="-122"/>
                <a:cs typeface="Calibri" pitchFamily="34" charset="-120"/>
              </a:rPr>
              <a:t>Fix: MediaPipe Pose: 4 landmarks (ears + shoulders). Ear span and head-shoulder gap are physically meaningful.</a:t>
            </a:r>
            <a:endParaRPr lang="en-US" sz="950" dirty="0"/>
          </a:p>
        </p:txBody>
      </p:sp>
      <p:sp>
        <p:nvSpPr>
          <p:cNvPr id="14" name="Shape 12"/>
          <p:cNvSpPr/>
          <p:nvPr/>
        </p:nvSpPr>
        <p:spPr>
          <a:xfrm>
            <a:off x="365760" y="2359152"/>
            <a:ext cx="4023360" cy="1234440"/>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15" name="Shape 13"/>
          <p:cNvSpPr/>
          <p:nvPr/>
        </p:nvSpPr>
        <p:spPr>
          <a:xfrm>
            <a:off x="365760" y="2359152"/>
            <a:ext cx="64008" cy="1234440"/>
          </a:xfrm>
          <a:prstGeom prst="rect">
            <a:avLst/>
          </a:prstGeom>
          <a:solidFill>
            <a:srgbClr val="EAB308"/>
          </a:solidFill>
          <a:ln w="12700">
            <a:solidFill>
              <a:srgbClr val="EAB308"/>
            </a:solidFill>
            <a:prstDash val="solid"/>
          </a:ln>
        </p:spPr>
        <p:txBody>
          <a:bodyPr/>
          <a:lstStyle/>
          <a:p>
            <a:endParaRPr lang="en-IE"/>
          </a:p>
        </p:txBody>
      </p:sp>
      <p:sp>
        <p:nvSpPr>
          <p:cNvPr id="16" name="Text 14"/>
          <p:cNvSpPr/>
          <p:nvPr/>
        </p:nvSpPr>
        <p:spPr>
          <a:xfrm>
            <a:off x="502920" y="2432304"/>
            <a:ext cx="3794760" cy="256032"/>
          </a:xfrm>
          <a:prstGeom prst="rect">
            <a:avLst/>
          </a:prstGeom>
          <a:noFill/>
          <a:ln/>
        </p:spPr>
        <p:txBody>
          <a:bodyPr wrap="square" lIns="0" tIns="0" rIns="0" bIns="0" rtlCol="0" anchor="ctr"/>
          <a:lstStyle/>
          <a:p>
            <a:pPr marL="0" indent="0">
              <a:buNone/>
            </a:pPr>
            <a:r>
              <a:rPr lang="en-US" sz="1200" b="1" dirty="0">
                <a:solidFill>
                  <a:srgbClr val="F0F9FF"/>
                </a:solidFill>
                <a:latin typeface="Trebuchet MS" pitchFamily="34" charset="0"/>
                <a:ea typeface="Trebuchet MS" pitchFamily="34" charset="-122"/>
                <a:cs typeface="Trebuchet MS" pitchFamily="34" charset="-120"/>
              </a:rPr>
              <a:t>History Page Performance</a:t>
            </a:r>
            <a:endParaRPr lang="en-US" sz="1200" dirty="0"/>
          </a:p>
        </p:txBody>
      </p:sp>
      <p:sp>
        <p:nvSpPr>
          <p:cNvPr id="17" name="Text 15"/>
          <p:cNvSpPr/>
          <p:nvPr/>
        </p:nvSpPr>
        <p:spPr>
          <a:xfrm>
            <a:off x="502920" y="2706624"/>
            <a:ext cx="3794760" cy="36576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Problem: Fetching all DB records and filtering in browser became slow once hours of data accumulated.</a:t>
            </a:r>
            <a:endParaRPr lang="en-US" sz="950" dirty="0"/>
          </a:p>
        </p:txBody>
      </p:sp>
      <p:sp>
        <p:nvSpPr>
          <p:cNvPr id="18" name="Text 16"/>
          <p:cNvSpPr/>
          <p:nvPr/>
        </p:nvSpPr>
        <p:spPr>
          <a:xfrm>
            <a:off x="502920" y="3090672"/>
            <a:ext cx="3794760" cy="402336"/>
          </a:xfrm>
          <a:prstGeom prst="rect">
            <a:avLst/>
          </a:prstGeom>
          <a:noFill/>
          <a:ln/>
        </p:spPr>
        <p:txBody>
          <a:bodyPr wrap="square" lIns="0" tIns="0" rIns="0" bIns="0" rtlCol="0" anchor="ctr"/>
          <a:lstStyle/>
          <a:p>
            <a:pPr marL="0" indent="0">
              <a:buNone/>
            </a:pPr>
            <a:r>
              <a:rPr lang="en-US" sz="950" dirty="0">
                <a:solidFill>
                  <a:srgbClr val="4ADE80"/>
                </a:solidFill>
                <a:latin typeface="Calibri" pitchFamily="34" charset="0"/>
                <a:ea typeface="Calibri" pitchFamily="34" charset="-122"/>
                <a:cs typeface="Calibri" pitchFamily="34" charset="-120"/>
              </a:rPr>
              <a:t>Fix: Server-side time-windowed SQL + composite indexes on (sensor, ts). Seconds → under 100ms.</a:t>
            </a:r>
            <a:endParaRPr lang="en-US" sz="950" dirty="0"/>
          </a:p>
        </p:txBody>
      </p:sp>
      <p:sp>
        <p:nvSpPr>
          <p:cNvPr id="19" name="Shape 17"/>
          <p:cNvSpPr/>
          <p:nvPr/>
        </p:nvSpPr>
        <p:spPr>
          <a:xfrm>
            <a:off x="4663440" y="2359152"/>
            <a:ext cx="4023360" cy="1234440"/>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20" name="Shape 18"/>
          <p:cNvSpPr/>
          <p:nvPr/>
        </p:nvSpPr>
        <p:spPr>
          <a:xfrm>
            <a:off x="4663440" y="2359152"/>
            <a:ext cx="64008" cy="1234440"/>
          </a:xfrm>
          <a:prstGeom prst="rect">
            <a:avLst/>
          </a:prstGeom>
          <a:solidFill>
            <a:srgbClr val="A78BFA"/>
          </a:solidFill>
          <a:ln w="12700">
            <a:solidFill>
              <a:srgbClr val="A78BFA"/>
            </a:solidFill>
            <a:prstDash val="solid"/>
          </a:ln>
        </p:spPr>
        <p:txBody>
          <a:bodyPr/>
          <a:lstStyle/>
          <a:p>
            <a:endParaRPr lang="en-IE"/>
          </a:p>
        </p:txBody>
      </p:sp>
      <p:sp>
        <p:nvSpPr>
          <p:cNvPr id="21" name="Text 19"/>
          <p:cNvSpPr/>
          <p:nvPr/>
        </p:nvSpPr>
        <p:spPr>
          <a:xfrm>
            <a:off x="4800600" y="2432304"/>
            <a:ext cx="3794760" cy="256032"/>
          </a:xfrm>
          <a:prstGeom prst="rect">
            <a:avLst/>
          </a:prstGeom>
          <a:noFill/>
          <a:ln/>
        </p:spPr>
        <p:txBody>
          <a:bodyPr wrap="square" lIns="0" tIns="0" rIns="0" bIns="0" rtlCol="0" anchor="ctr"/>
          <a:lstStyle/>
          <a:p>
            <a:pPr marL="0" indent="0">
              <a:buNone/>
            </a:pPr>
            <a:r>
              <a:rPr lang="en-US" sz="1200" b="1" dirty="0">
                <a:solidFill>
                  <a:srgbClr val="F0F9FF"/>
                </a:solidFill>
                <a:latin typeface="Trebuchet MS" pitchFamily="34" charset="0"/>
                <a:ea typeface="Trebuchet MS" pitchFamily="34" charset="-122"/>
                <a:cs typeface="Trebuchet MS" pitchFamily="34" charset="-120"/>
              </a:rPr>
              <a:t>Camera Exclusivity</a:t>
            </a:r>
            <a:endParaRPr lang="en-US" sz="1200" dirty="0"/>
          </a:p>
        </p:txBody>
      </p:sp>
      <p:sp>
        <p:nvSpPr>
          <p:cNvPr id="22" name="Text 20"/>
          <p:cNvSpPr/>
          <p:nvPr/>
        </p:nvSpPr>
        <p:spPr>
          <a:xfrm>
            <a:off x="4800600" y="2706624"/>
            <a:ext cx="3794760" cy="36576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Problem: OpenCV held webcam exclusively. Browser getUserMedia failed while backend worker was running.</a:t>
            </a:r>
            <a:endParaRPr lang="en-US" sz="950" dirty="0"/>
          </a:p>
        </p:txBody>
      </p:sp>
      <p:sp>
        <p:nvSpPr>
          <p:cNvPr id="23" name="Text 21"/>
          <p:cNvSpPr/>
          <p:nvPr/>
        </p:nvSpPr>
        <p:spPr>
          <a:xfrm>
            <a:off x="4800600" y="3090672"/>
            <a:ext cx="3794760" cy="402336"/>
          </a:xfrm>
          <a:prstGeom prst="rect">
            <a:avLst/>
          </a:prstGeom>
          <a:noFill/>
          <a:ln/>
        </p:spPr>
        <p:txBody>
          <a:bodyPr wrap="square" lIns="0" tIns="0" rIns="0" bIns="0" rtlCol="0" anchor="ctr"/>
          <a:lstStyle/>
          <a:p>
            <a:pPr marL="0" indent="0">
              <a:buNone/>
            </a:pPr>
            <a:r>
              <a:rPr lang="en-US" sz="950" dirty="0">
                <a:solidFill>
                  <a:srgbClr val="4ADE80"/>
                </a:solidFill>
                <a:latin typeface="Calibri" pitchFamily="34" charset="0"/>
                <a:ea typeface="Calibri" pitchFamily="34" charset="-122"/>
                <a:cs typeface="Calibri" pitchFamily="34" charset="-120"/>
              </a:rPr>
              <a:t>Fix: Pause/Resume: stop backend worker, release camera, then browser preview opens. Reversed on resume.</a:t>
            </a:r>
            <a:endParaRPr lang="en-US" sz="950" dirty="0"/>
          </a:p>
        </p:txBody>
      </p:sp>
      <p:sp>
        <p:nvSpPr>
          <p:cNvPr id="24" name="Shape 22"/>
          <p:cNvSpPr/>
          <p:nvPr/>
        </p:nvSpPr>
        <p:spPr>
          <a:xfrm>
            <a:off x="365760" y="3730752"/>
            <a:ext cx="4023360" cy="1234440"/>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25" name="Shape 23"/>
          <p:cNvSpPr/>
          <p:nvPr/>
        </p:nvSpPr>
        <p:spPr>
          <a:xfrm>
            <a:off x="365760" y="3730752"/>
            <a:ext cx="64008" cy="1234440"/>
          </a:xfrm>
          <a:prstGeom prst="rect">
            <a:avLst/>
          </a:prstGeom>
          <a:solidFill>
            <a:srgbClr val="38BDF8"/>
          </a:solidFill>
          <a:ln w="12700">
            <a:solidFill>
              <a:srgbClr val="38BDF8"/>
            </a:solidFill>
            <a:prstDash val="solid"/>
          </a:ln>
        </p:spPr>
        <p:txBody>
          <a:bodyPr/>
          <a:lstStyle/>
          <a:p>
            <a:endParaRPr lang="en-IE"/>
          </a:p>
        </p:txBody>
      </p:sp>
      <p:sp>
        <p:nvSpPr>
          <p:cNvPr id="26" name="Text 24"/>
          <p:cNvSpPr/>
          <p:nvPr/>
        </p:nvSpPr>
        <p:spPr>
          <a:xfrm>
            <a:off x="502920" y="3803904"/>
            <a:ext cx="3794760" cy="256032"/>
          </a:xfrm>
          <a:prstGeom prst="rect">
            <a:avLst/>
          </a:prstGeom>
          <a:noFill/>
          <a:ln/>
        </p:spPr>
        <p:txBody>
          <a:bodyPr wrap="square" lIns="0" tIns="0" rIns="0" bIns="0" rtlCol="0" anchor="ctr"/>
          <a:lstStyle/>
          <a:p>
            <a:pPr marL="0" indent="0">
              <a:buNone/>
            </a:pPr>
            <a:r>
              <a:rPr lang="en-US" sz="1200" b="1" dirty="0">
                <a:solidFill>
                  <a:srgbClr val="F0F9FF"/>
                </a:solidFill>
                <a:latin typeface="Trebuchet MS" pitchFamily="34" charset="0"/>
                <a:ea typeface="Trebuchet MS" pitchFamily="34" charset="-122"/>
                <a:cs typeface="Trebuchet MS" pitchFamily="34" charset="-120"/>
              </a:rPr>
              <a:t>Thread-Safe WebSocket Broadcast</a:t>
            </a:r>
            <a:endParaRPr lang="en-US" sz="1200" dirty="0"/>
          </a:p>
        </p:txBody>
      </p:sp>
      <p:sp>
        <p:nvSpPr>
          <p:cNvPr id="27" name="Text 25"/>
          <p:cNvSpPr/>
          <p:nvPr/>
        </p:nvSpPr>
        <p:spPr>
          <a:xfrm>
            <a:off x="502920" y="4078224"/>
            <a:ext cx="3794760" cy="36576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Problem: Audio and webcam workers run in threads. Cannot await async broadcast from outside event loop.</a:t>
            </a:r>
            <a:endParaRPr lang="en-US" sz="950" dirty="0"/>
          </a:p>
        </p:txBody>
      </p:sp>
      <p:sp>
        <p:nvSpPr>
          <p:cNvPr id="28" name="Text 26"/>
          <p:cNvSpPr/>
          <p:nvPr/>
        </p:nvSpPr>
        <p:spPr>
          <a:xfrm>
            <a:off x="502920" y="4462272"/>
            <a:ext cx="3794760" cy="402336"/>
          </a:xfrm>
          <a:prstGeom prst="rect">
            <a:avLst/>
          </a:prstGeom>
          <a:noFill/>
          <a:ln/>
        </p:spPr>
        <p:txBody>
          <a:bodyPr wrap="square" lIns="0" tIns="0" rIns="0" bIns="0" rtlCol="0" anchor="ctr"/>
          <a:lstStyle/>
          <a:p>
            <a:pPr marL="0" indent="0">
              <a:buNone/>
            </a:pPr>
            <a:r>
              <a:rPr lang="en-US" sz="950" dirty="0">
                <a:solidFill>
                  <a:srgbClr val="4ADE80"/>
                </a:solidFill>
                <a:latin typeface="Calibri" pitchFamily="34" charset="0"/>
                <a:ea typeface="Calibri" pitchFamily="34" charset="-122"/>
                <a:cs typeface="Calibri" pitchFamily="34" charset="-120"/>
              </a:rPr>
              <a:t>Fix: Stored event loop at startup. Used asyncio.run_coroutine_threadsafe() from worker callbacks.</a:t>
            </a:r>
            <a:endParaRPr lang="en-US" sz="950" dirty="0"/>
          </a:p>
        </p:txBody>
      </p:sp>
      <p:sp>
        <p:nvSpPr>
          <p:cNvPr id="29" name="Shape 27"/>
          <p:cNvSpPr/>
          <p:nvPr/>
        </p:nvSpPr>
        <p:spPr>
          <a:xfrm>
            <a:off x="4663440" y="3730752"/>
            <a:ext cx="4023360" cy="1234440"/>
          </a:xfrm>
          <a:prstGeom prst="rect">
            <a:avLst/>
          </a:prstGeom>
          <a:solidFill>
            <a:srgbClr val="1E293B"/>
          </a:solidFill>
          <a:ln w="12700">
            <a:solidFill>
              <a:srgbClr val="2D3F55"/>
            </a:solidFill>
            <a:prstDash val="solid"/>
          </a:ln>
          <a:effectLst>
            <a:outerShdw blurRad="101600" dist="38100" dir="8100000" algn="bl" rotWithShape="0">
              <a:srgbClr val="000000">
                <a:alpha val="25000"/>
              </a:srgbClr>
            </a:outerShdw>
          </a:effectLst>
        </p:spPr>
        <p:txBody>
          <a:bodyPr/>
          <a:lstStyle/>
          <a:p>
            <a:endParaRPr lang="en-IE"/>
          </a:p>
        </p:txBody>
      </p:sp>
      <p:sp>
        <p:nvSpPr>
          <p:cNvPr id="30" name="Shape 28"/>
          <p:cNvSpPr/>
          <p:nvPr/>
        </p:nvSpPr>
        <p:spPr>
          <a:xfrm>
            <a:off x="4663440" y="3730752"/>
            <a:ext cx="64008" cy="1234440"/>
          </a:xfrm>
          <a:prstGeom prst="rect">
            <a:avLst/>
          </a:prstGeom>
          <a:solidFill>
            <a:srgbClr val="4ADE80"/>
          </a:solidFill>
          <a:ln w="12700">
            <a:solidFill>
              <a:srgbClr val="4ADE80"/>
            </a:solidFill>
            <a:prstDash val="solid"/>
          </a:ln>
        </p:spPr>
        <p:txBody>
          <a:bodyPr/>
          <a:lstStyle/>
          <a:p>
            <a:endParaRPr lang="en-IE"/>
          </a:p>
        </p:txBody>
      </p:sp>
      <p:sp>
        <p:nvSpPr>
          <p:cNvPr id="31" name="Text 29"/>
          <p:cNvSpPr/>
          <p:nvPr/>
        </p:nvSpPr>
        <p:spPr>
          <a:xfrm>
            <a:off x="4800600" y="3803904"/>
            <a:ext cx="3794760" cy="256032"/>
          </a:xfrm>
          <a:prstGeom prst="rect">
            <a:avLst/>
          </a:prstGeom>
          <a:noFill/>
          <a:ln/>
        </p:spPr>
        <p:txBody>
          <a:bodyPr wrap="square" lIns="0" tIns="0" rIns="0" bIns="0" rtlCol="0" anchor="ctr"/>
          <a:lstStyle/>
          <a:p>
            <a:pPr marL="0" indent="0">
              <a:buNone/>
            </a:pPr>
            <a:r>
              <a:rPr lang="en-US" sz="1200" b="1" dirty="0">
                <a:solidFill>
                  <a:srgbClr val="F0F9FF"/>
                </a:solidFill>
                <a:latin typeface="Trebuchet MS" pitchFamily="34" charset="0"/>
                <a:ea typeface="Trebuchet MS" pitchFamily="34" charset="-122"/>
                <a:cs typeface="Trebuchet MS" pitchFamily="34" charset="-120"/>
              </a:rPr>
              <a:t>PostgreSQL Startup Race</a:t>
            </a:r>
            <a:endParaRPr lang="en-US" sz="1200" dirty="0"/>
          </a:p>
        </p:txBody>
      </p:sp>
      <p:sp>
        <p:nvSpPr>
          <p:cNvPr id="32" name="Text 30"/>
          <p:cNvSpPr/>
          <p:nvPr/>
        </p:nvSpPr>
        <p:spPr>
          <a:xfrm>
            <a:off x="4800600" y="4078224"/>
            <a:ext cx="3794760" cy="36576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Problem: Backend started before Docker PostgreSQL finished initialising — connection refused on cold start.</a:t>
            </a:r>
            <a:endParaRPr lang="en-US" sz="950" dirty="0"/>
          </a:p>
        </p:txBody>
      </p:sp>
      <p:sp>
        <p:nvSpPr>
          <p:cNvPr id="33" name="Text 31"/>
          <p:cNvSpPr/>
          <p:nvPr/>
        </p:nvSpPr>
        <p:spPr>
          <a:xfrm>
            <a:off x="4800600" y="4462272"/>
            <a:ext cx="3794760" cy="402336"/>
          </a:xfrm>
          <a:prstGeom prst="rect">
            <a:avLst/>
          </a:prstGeom>
          <a:noFill/>
          <a:ln/>
        </p:spPr>
        <p:txBody>
          <a:bodyPr wrap="square" lIns="0" tIns="0" rIns="0" bIns="0" rtlCol="0" anchor="ctr"/>
          <a:lstStyle/>
          <a:p>
            <a:pPr marL="0" indent="0">
              <a:buNone/>
            </a:pPr>
            <a:r>
              <a:rPr lang="en-US" sz="950" dirty="0">
                <a:solidFill>
                  <a:srgbClr val="4ADE80"/>
                </a:solidFill>
                <a:latin typeface="Calibri" pitchFamily="34" charset="0"/>
                <a:ea typeface="Calibri" pitchFamily="34" charset="-122"/>
                <a:cs typeface="Calibri" pitchFamily="34" charset="-120"/>
              </a:rPr>
              <a:t>Fix: Retry loop in init_db.py: 8 attempts with 5s delay. Waits gracefully for DB to become ready.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400" b="1" dirty="0">
                <a:solidFill>
                  <a:srgbClr val="F0F9FF"/>
                </a:solidFill>
                <a:latin typeface="Trebuchet MS" pitchFamily="34" charset="0"/>
                <a:ea typeface="Trebuchet MS" pitchFamily="34" charset="-122"/>
                <a:cs typeface="Trebuchet MS" pitchFamily="34" charset="-120"/>
              </a:rPr>
              <a:t>Project Management</a:t>
            </a:r>
            <a:endParaRPr lang="en-US" sz="3400" dirty="0"/>
          </a:p>
        </p:txBody>
      </p:sp>
      <p:sp>
        <p:nvSpPr>
          <p:cNvPr id="3" name="Shape 1"/>
          <p:cNvSpPr/>
          <p:nvPr/>
        </p:nvSpPr>
        <p:spPr>
          <a:xfrm>
            <a:off x="457200" y="786384"/>
            <a:ext cx="8046720" cy="27432"/>
          </a:xfrm>
          <a:prstGeom prst="rect">
            <a:avLst/>
          </a:prstGeom>
          <a:solidFill>
            <a:srgbClr val="38BDF8"/>
          </a:solidFill>
          <a:ln w="12700">
            <a:solidFill>
              <a:srgbClr val="38BDF8"/>
            </a:solidFill>
            <a:prstDash val="solid"/>
          </a:ln>
        </p:spPr>
        <p:txBody>
          <a:bodyPr/>
          <a:lstStyle/>
          <a:p>
            <a:endParaRPr lang="en-IE"/>
          </a:p>
        </p:txBody>
      </p:sp>
      <p:sp>
        <p:nvSpPr>
          <p:cNvPr id="4" name="Text 2"/>
          <p:cNvSpPr/>
          <p:nvPr/>
        </p:nvSpPr>
        <p:spPr>
          <a:xfrm>
            <a:off x="365760" y="914400"/>
            <a:ext cx="5029200" cy="292608"/>
          </a:xfrm>
          <a:prstGeom prst="rect">
            <a:avLst/>
          </a:prstGeom>
          <a:noFill/>
          <a:ln/>
        </p:spPr>
        <p:txBody>
          <a:bodyPr wrap="square" lIns="0" tIns="0" rIns="0" bIns="0" rtlCol="0" anchor="ctr"/>
          <a:lstStyle/>
          <a:p>
            <a:pPr marL="0" indent="0">
              <a:buNone/>
            </a:pPr>
            <a:r>
              <a:rPr lang="en-US" sz="1200" b="1" dirty="0">
                <a:solidFill>
                  <a:srgbClr val="38BDF8"/>
                </a:solidFill>
                <a:latin typeface="Trebuchet MS" pitchFamily="34" charset="0"/>
                <a:ea typeface="Trebuchet MS" pitchFamily="34" charset="-122"/>
                <a:cs typeface="Trebuchet MS" pitchFamily="34" charset="-120"/>
              </a:rPr>
              <a:t>Jira Sprint Burndown — Sprint 1 (Jan–Feb 2026)</a:t>
            </a:r>
            <a:endParaRPr lang="en-US" sz="1200" dirty="0"/>
          </a:p>
        </p:txBody>
      </p:sp>
      <p:pic>
        <p:nvPicPr>
          <p:cNvPr id="5" name="Image 0" descr="preencoded.png"/>
          <p:cNvPicPr>
            <a:picLocks noChangeAspect="1"/>
          </p:cNvPicPr>
          <p:nvPr/>
        </p:nvPicPr>
        <p:blipFill>
          <a:blip r:embed="rId3"/>
          <a:stretch>
            <a:fillRect/>
          </a:stretch>
        </p:blipFill>
        <p:spPr>
          <a:xfrm>
            <a:off x="365760" y="1261872"/>
            <a:ext cx="4937760" cy="1920240"/>
          </a:xfrm>
          <a:prstGeom prst="rect">
            <a:avLst/>
          </a:prstGeom>
        </p:spPr>
      </p:pic>
      <p:sp>
        <p:nvSpPr>
          <p:cNvPr id="6" name="Text 3"/>
          <p:cNvSpPr/>
          <p:nvPr/>
        </p:nvSpPr>
        <p:spPr>
          <a:xfrm>
            <a:off x="365760" y="3255264"/>
            <a:ext cx="4937760" cy="5029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28 story points · slow start while scaffolding · sharp drop 27–29 Jan when serial + WebSocket clicked · 5pts carried</a:t>
            </a:r>
            <a:endParaRPr lang="en-US" sz="1000" dirty="0"/>
          </a:p>
        </p:txBody>
      </p:sp>
      <p:sp>
        <p:nvSpPr>
          <p:cNvPr id="7" name="Text 4"/>
          <p:cNvSpPr/>
          <p:nvPr/>
        </p:nvSpPr>
        <p:spPr>
          <a:xfrm>
            <a:off x="5577840" y="914400"/>
            <a:ext cx="3383280" cy="292608"/>
          </a:xfrm>
          <a:prstGeom prst="rect">
            <a:avLst/>
          </a:prstGeom>
          <a:noFill/>
          <a:ln/>
        </p:spPr>
        <p:txBody>
          <a:bodyPr wrap="square" lIns="0" tIns="0" rIns="0" bIns="0" rtlCol="0" anchor="ctr"/>
          <a:lstStyle/>
          <a:p>
            <a:pPr marL="0" indent="0">
              <a:buNone/>
            </a:pPr>
            <a:r>
              <a:rPr lang="en-US" sz="1200" b="1" dirty="0">
                <a:solidFill>
                  <a:srgbClr val="38BDF8"/>
                </a:solidFill>
                <a:latin typeface="Trebuchet MS" pitchFamily="34" charset="0"/>
                <a:ea typeface="Trebuchet MS" pitchFamily="34" charset="-122"/>
                <a:cs typeface="Trebuchet MS" pitchFamily="34" charset="-120"/>
              </a:rPr>
              <a:t>Agile Approach</a:t>
            </a:r>
            <a:endParaRPr lang="en-US" sz="1200" dirty="0"/>
          </a:p>
        </p:txBody>
      </p:sp>
      <p:sp>
        <p:nvSpPr>
          <p:cNvPr id="8" name="Text 5"/>
          <p:cNvSpPr/>
          <p:nvPr/>
        </p:nvSpPr>
        <p:spPr>
          <a:xfrm>
            <a:off x="5577840" y="1298448"/>
            <a:ext cx="3383280" cy="1828800"/>
          </a:xfrm>
          <a:prstGeom prst="rect">
            <a:avLst/>
          </a:prstGeom>
          <a:noFill/>
          <a:ln/>
        </p:spPr>
        <p:txBody>
          <a:bodyPr wrap="square" lIns="0" tIns="0" rIns="0" bIns="0" rtlCol="0" anchor="ctr"/>
          <a:lstStyle/>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Hardware Integration</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Backend API + Serial</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WebSocket Streaming</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Frontend Dashboard</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History + Charts</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Audio Monitoring</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Posture Detection</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Settings + Calibration</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Documentation</a:t>
            </a:r>
            <a:endParaRPr lang="en-US" sz="1100" dirty="0"/>
          </a:p>
        </p:txBody>
      </p:sp>
      <p:sp>
        <p:nvSpPr>
          <p:cNvPr id="9" name="Text 6"/>
          <p:cNvSpPr/>
          <p:nvPr/>
        </p:nvSpPr>
        <p:spPr>
          <a:xfrm>
            <a:off x="5577840" y="3218688"/>
            <a:ext cx="3383280" cy="256032"/>
          </a:xfrm>
          <a:prstGeom prst="rect">
            <a:avLst/>
          </a:prstGeom>
          <a:noFill/>
          <a:ln/>
        </p:spPr>
        <p:txBody>
          <a:bodyPr wrap="square" lIns="0" tIns="0" rIns="0" bIns="0" rtlCol="0" anchor="ctr"/>
          <a:lstStyle/>
          <a:p>
            <a:pPr marL="0" indent="0">
              <a:buNone/>
            </a:pPr>
            <a:r>
              <a:rPr lang="en-US" sz="1100" b="1" dirty="0">
                <a:solidFill>
                  <a:srgbClr val="38BDF8"/>
                </a:solidFill>
                <a:latin typeface="Trebuchet MS" pitchFamily="34" charset="0"/>
                <a:ea typeface="Trebuchet MS" pitchFamily="34" charset="-122"/>
                <a:cs typeface="Trebuchet MS" pitchFamily="34" charset="-120"/>
              </a:rPr>
              <a:t>Tools</a:t>
            </a:r>
            <a:endParaRPr lang="en-US" sz="1100" dirty="0"/>
          </a:p>
        </p:txBody>
      </p:sp>
      <p:sp>
        <p:nvSpPr>
          <p:cNvPr id="10" name="Text 7"/>
          <p:cNvSpPr/>
          <p:nvPr/>
        </p:nvSpPr>
        <p:spPr>
          <a:xfrm>
            <a:off x="5577840" y="3529584"/>
            <a:ext cx="3383280" cy="868680"/>
          </a:xfrm>
          <a:prstGeom prst="rect">
            <a:avLst/>
          </a:prstGeom>
          <a:noFill/>
          <a:ln/>
        </p:spPr>
        <p:txBody>
          <a:bodyPr wrap="square" lIns="0" tIns="0" rIns="0" bIns="0"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Jira</a:t>
            </a:r>
            <a:r>
              <a:rPr lang="en-US" sz="1100" dirty="0">
                <a:solidFill>
                  <a:srgbClr val="94A3B8"/>
                </a:solidFill>
                <a:latin typeface="Calibri" pitchFamily="34" charset="0"/>
                <a:ea typeface="Calibri" pitchFamily="34" charset="-122"/>
                <a:cs typeface="Calibri" pitchFamily="34" charset="-120"/>
              </a:rPr>
              <a:t>  Sprint planning, backlog, burndown</a:t>
            </a:r>
            <a:endParaRPr lang="en-US" sz="1100" dirty="0"/>
          </a:p>
          <a:p>
            <a:pPr marL="0" indent="0">
              <a:buNone/>
            </a:pPr>
            <a:r>
              <a:rPr lang="en-US" sz="1100" b="1" dirty="0">
                <a:solidFill>
                  <a:srgbClr val="94A3B8"/>
                </a:solidFill>
                <a:latin typeface="Calibri" pitchFamily="34" charset="0"/>
                <a:ea typeface="Calibri" pitchFamily="34" charset="-122"/>
                <a:cs typeface="Calibri" pitchFamily="34" charset="-120"/>
              </a:rPr>
              <a:t>OneNote</a:t>
            </a:r>
            <a:r>
              <a:rPr lang="en-US" sz="1100" dirty="0">
                <a:solidFill>
                  <a:srgbClr val="94A3B8"/>
                </a:solidFill>
                <a:latin typeface="Calibri" pitchFamily="34" charset="0"/>
                <a:ea typeface="Calibri" pitchFamily="34" charset="-122"/>
                <a:cs typeface="Calibri" pitchFamily="34" charset="-120"/>
              </a:rPr>
              <a:t>  Weekly logs all year</a:t>
            </a:r>
            <a:endParaRPr lang="en-US" sz="1100" dirty="0"/>
          </a:p>
          <a:p>
            <a:pPr marL="0" indent="0">
              <a:buNone/>
            </a:pPr>
            <a:r>
              <a:rPr lang="en-US" sz="1100" b="1" dirty="0">
                <a:solidFill>
                  <a:srgbClr val="94A3B8"/>
                </a:solidFill>
                <a:latin typeface="Calibri" pitchFamily="34" charset="0"/>
                <a:ea typeface="Calibri" pitchFamily="34" charset="-122"/>
                <a:cs typeface="Calibri" pitchFamily="34" charset="-120"/>
              </a:rPr>
              <a:t>GitHub</a:t>
            </a:r>
            <a:r>
              <a:rPr lang="en-US" sz="1100" dirty="0">
                <a:solidFill>
                  <a:srgbClr val="94A3B8"/>
                </a:solidFill>
                <a:latin typeface="Calibri" pitchFamily="34" charset="0"/>
                <a:ea typeface="Calibri" pitchFamily="34" charset="-122"/>
                <a:cs typeface="Calibri" pitchFamily="34" charset="-120"/>
              </a:rPr>
              <a:t>  github.com/Edmentos/TheDeskBuddyApp</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400" b="1" dirty="0">
                <a:solidFill>
                  <a:srgbClr val="F0F9FF"/>
                </a:solidFill>
                <a:latin typeface="Trebuchet MS" pitchFamily="34" charset="0"/>
                <a:ea typeface="Trebuchet MS" pitchFamily="34" charset="-122"/>
                <a:cs typeface="Trebuchet MS" pitchFamily="34" charset="-120"/>
              </a:rPr>
              <a:t>Conclusion and Future Work</a:t>
            </a:r>
            <a:endParaRPr lang="en-US" sz="3400" dirty="0"/>
          </a:p>
        </p:txBody>
      </p:sp>
      <p:sp>
        <p:nvSpPr>
          <p:cNvPr id="3" name="Shape 1"/>
          <p:cNvSpPr/>
          <p:nvPr/>
        </p:nvSpPr>
        <p:spPr>
          <a:xfrm>
            <a:off x="457200" y="786384"/>
            <a:ext cx="8046720" cy="27432"/>
          </a:xfrm>
          <a:prstGeom prst="rect">
            <a:avLst/>
          </a:prstGeom>
          <a:solidFill>
            <a:srgbClr val="38BDF8"/>
          </a:solidFill>
          <a:ln w="12700">
            <a:solidFill>
              <a:srgbClr val="38BDF8"/>
            </a:solidFill>
            <a:prstDash val="solid"/>
          </a:ln>
        </p:spPr>
        <p:txBody>
          <a:bodyPr/>
          <a:lstStyle/>
          <a:p>
            <a:endParaRPr lang="en-IE"/>
          </a:p>
        </p:txBody>
      </p:sp>
      <p:sp>
        <p:nvSpPr>
          <p:cNvPr id="4" name="Text 2"/>
          <p:cNvSpPr/>
          <p:nvPr/>
        </p:nvSpPr>
        <p:spPr>
          <a:xfrm>
            <a:off x="365760" y="960120"/>
            <a:ext cx="4114800" cy="320040"/>
          </a:xfrm>
          <a:prstGeom prst="rect">
            <a:avLst/>
          </a:prstGeom>
          <a:noFill/>
          <a:ln/>
        </p:spPr>
        <p:txBody>
          <a:bodyPr wrap="square" lIns="0" tIns="0" rIns="0" bIns="0" rtlCol="0" anchor="ctr"/>
          <a:lstStyle/>
          <a:p>
            <a:pPr marL="0" indent="0">
              <a:buNone/>
            </a:pPr>
            <a:r>
              <a:rPr lang="en-US" sz="1400" b="1" dirty="0">
                <a:solidFill>
                  <a:srgbClr val="4ADE80"/>
                </a:solidFill>
                <a:latin typeface="Trebuchet MS" pitchFamily="34" charset="0"/>
                <a:ea typeface="Trebuchet MS" pitchFamily="34" charset="-122"/>
                <a:cs typeface="Trebuchet MS" pitchFamily="34" charset="-120"/>
              </a:rPr>
              <a:t>What was delivered</a:t>
            </a:r>
            <a:endParaRPr lang="en-US" sz="1400" dirty="0"/>
          </a:p>
        </p:txBody>
      </p:sp>
      <p:sp>
        <p:nvSpPr>
          <p:cNvPr id="5" name="Text 3"/>
          <p:cNvSpPr/>
          <p:nvPr/>
        </p:nvSpPr>
        <p:spPr>
          <a:xfrm>
            <a:off x="365760" y="1353312"/>
            <a:ext cx="4114800" cy="3291840"/>
          </a:xfrm>
          <a:prstGeom prst="rect">
            <a:avLst/>
          </a:prstGeom>
          <a:noFill/>
          <a:ln/>
        </p:spPr>
        <p:txBody>
          <a:bodyPr wrap="square" lIns="0" tIns="0" rIns="0" bIns="0" rtlCol="0" anchor="ctr"/>
          <a:lstStyle/>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Live ESP32 sensor dashboard (temp, humidity, distance)</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Sitting/standing detection with hysteresis + duration gate</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Ambient noise monitoring with 4 configurable bands</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MediaPipe webcam slouch detection + calibration</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30-second sustained slouch browser notification</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PostgreSQL storage with fast indexed queries</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History charts with 4 configurable time ranges</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Fully configurable Settings page</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Docker + start.bat one-command startup</a:t>
            </a:r>
            <a:endParaRPr lang="en-US" sz="1100" dirty="0"/>
          </a:p>
        </p:txBody>
      </p:sp>
      <p:sp>
        <p:nvSpPr>
          <p:cNvPr id="6" name="Text 4"/>
          <p:cNvSpPr/>
          <p:nvPr/>
        </p:nvSpPr>
        <p:spPr>
          <a:xfrm>
            <a:off x="4663440" y="960120"/>
            <a:ext cx="4114800" cy="320040"/>
          </a:xfrm>
          <a:prstGeom prst="rect">
            <a:avLst/>
          </a:prstGeom>
          <a:noFill/>
          <a:ln/>
        </p:spPr>
        <p:txBody>
          <a:bodyPr wrap="square" lIns="0" tIns="0" rIns="0" bIns="0" rtlCol="0" anchor="ctr"/>
          <a:lstStyle/>
          <a:p>
            <a:pPr marL="0" indent="0">
              <a:buNone/>
            </a:pPr>
            <a:r>
              <a:rPr lang="en-US" sz="1400" b="1" dirty="0">
                <a:solidFill>
                  <a:srgbClr val="38BDF8"/>
                </a:solidFill>
                <a:latin typeface="Trebuchet MS" pitchFamily="34" charset="0"/>
                <a:ea typeface="Trebuchet MS" pitchFamily="34" charset="-122"/>
                <a:cs typeface="Trebuchet MS" pitchFamily="34" charset="-120"/>
              </a:rPr>
              <a:t>Future Work</a:t>
            </a:r>
            <a:endParaRPr lang="en-US" sz="1400" dirty="0"/>
          </a:p>
        </p:txBody>
      </p:sp>
      <p:sp>
        <p:nvSpPr>
          <p:cNvPr id="7" name="Text 5"/>
          <p:cNvSpPr/>
          <p:nvPr/>
        </p:nvSpPr>
        <p:spPr>
          <a:xfrm>
            <a:off x="4663440" y="1353312"/>
            <a:ext cx="4114800" cy="3291840"/>
          </a:xfrm>
          <a:prstGeom prst="rect">
            <a:avLst/>
          </a:prstGeom>
          <a:noFill/>
          <a:ln/>
        </p:spPr>
        <p:txBody>
          <a:bodyPr wrap="square" lIns="0" tIns="0" rIns="0" bIns="0" rtlCol="0" anchor="ctr"/>
          <a:lstStyle/>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Microsoft Teams integration — LED updates from call status (original motivation)</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Package as Tauri native desktop app</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RFID badge reader for desk booking</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Gamified standing leaderboard (opt-in)</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macOS / Linux cross-platform support</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Standing reminder notifications</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Improved posture detection in varied lighting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82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w="12700">
            <a:solidFill>
              <a:srgbClr val="38BDF8"/>
            </a:solidFill>
            <a:prstDash val="solid"/>
          </a:ln>
        </p:spPr>
        <p:txBody>
          <a:bodyPr/>
          <a:lstStyle/>
          <a:p>
            <a:endParaRPr lang="en-IE"/>
          </a:p>
        </p:txBody>
      </p:sp>
      <p:sp>
        <p:nvSpPr>
          <p:cNvPr id="3" name="Text 1"/>
          <p:cNvSpPr/>
          <p:nvPr/>
        </p:nvSpPr>
        <p:spPr>
          <a:xfrm>
            <a:off x="457200" y="1600200"/>
            <a:ext cx="8229600" cy="1005840"/>
          </a:xfrm>
          <a:prstGeom prst="rect">
            <a:avLst/>
          </a:prstGeom>
          <a:noFill/>
          <a:ln/>
        </p:spPr>
        <p:txBody>
          <a:bodyPr wrap="square" lIns="0" tIns="0" rIns="0" bIns="0" rtlCol="0" anchor="ctr"/>
          <a:lstStyle/>
          <a:p>
            <a:pPr marL="0" indent="0" algn="ctr">
              <a:buNone/>
            </a:pPr>
            <a:r>
              <a:rPr lang="en-US" sz="5600" b="1" dirty="0">
                <a:solidFill>
                  <a:srgbClr val="F0F9FF"/>
                </a:solidFill>
                <a:latin typeface="Trebuchet MS" pitchFamily="34" charset="0"/>
                <a:ea typeface="Trebuchet MS" pitchFamily="34" charset="-122"/>
                <a:cs typeface="Trebuchet MS" pitchFamily="34" charset="-120"/>
              </a:rPr>
              <a:t>Thank You</a:t>
            </a:r>
            <a:endParaRPr lang="en-US" sz="5600" dirty="0"/>
          </a:p>
        </p:txBody>
      </p:sp>
      <p:sp>
        <p:nvSpPr>
          <p:cNvPr id="4" name="Text 2"/>
          <p:cNvSpPr/>
          <p:nvPr/>
        </p:nvSpPr>
        <p:spPr>
          <a:xfrm>
            <a:off x="457200" y="2240280"/>
            <a:ext cx="8229600" cy="548640"/>
          </a:xfrm>
          <a:prstGeom prst="rect">
            <a:avLst/>
          </a:prstGeom>
          <a:noFill/>
          <a:ln/>
        </p:spPr>
        <p:txBody>
          <a:bodyPr wrap="square" lIns="0" tIns="0" rIns="0" bIns="0" rtlCol="0" anchor="ctr"/>
          <a:lstStyle/>
          <a:p>
            <a:pPr marL="0" indent="0" algn="ctr">
              <a:buNone/>
            </a:pPr>
            <a:endParaRPr lang="en-US" sz="2800" dirty="0"/>
          </a:p>
        </p:txBody>
      </p:sp>
      <p:sp>
        <p:nvSpPr>
          <p:cNvPr id="5" name="Shape 3"/>
          <p:cNvSpPr/>
          <p:nvPr/>
        </p:nvSpPr>
        <p:spPr>
          <a:xfrm>
            <a:off x="1828800" y="2926080"/>
            <a:ext cx="5486400" cy="0"/>
          </a:xfrm>
          <a:prstGeom prst="line">
            <a:avLst/>
          </a:prstGeom>
          <a:noFill/>
          <a:ln w="12700">
            <a:solidFill>
              <a:srgbClr val="38BDF8"/>
            </a:solidFill>
            <a:prstDash val="solid"/>
          </a:ln>
        </p:spPr>
        <p:txBody>
          <a:bodyPr/>
          <a:lstStyle/>
          <a:p>
            <a:endParaRPr lang="en-IE"/>
          </a:p>
        </p:txBody>
      </p:sp>
      <p:sp>
        <p:nvSpPr>
          <p:cNvPr id="6" name="Text 4"/>
          <p:cNvSpPr/>
          <p:nvPr/>
        </p:nvSpPr>
        <p:spPr>
          <a:xfrm>
            <a:off x="457200" y="3108960"/>
            <a:ext cx="8229600" cy="868680"/>
          </a:xfrm>
          <a:prstGeom prst="rect">
            <a:avLst/>
          </a:prstGeom>
          <a:noFill/>
          <a:ln/>
        </p:spPr>
        <p:txBody>
          <a:bodyPr wrap="square" lIns="0" tIns="0" rIns="0" bIns="0" rtlCol="0" anchor="ctr"/>
          <a:lstStyle/>
          <a:p>
            <a:pPr marL="0" indent="0" algn="ctr">
              <a:buNone/>
            </a:pPr>
            <a:r>
              <a:rPr lang="en-US" sz="1300" dirty="0">
                <a:solidFill>
                  <a:srgbClr val="94A3B8"/>
                </a:solidFill>
                <a:latin typeface="Calibri" pitchFamily="34" charset="0"/>
                <a:ea typeface="Calibri" pitchFamily="34" charset="-122"/>
                <a:cs typeface="Calibri" pitchFamily="34" charset="-120"/>
              </a:rPr>
              <a:t>Edmond Wilkinson  ·  G00414989</a:t>
            </a:r>
            <a:endParaRPr lang="en-US" sz="1300" dirty="0"/>
          </a:p>
          <a:p>
            <a:pPr marL="0" indent="0" algn="ctr">
              <a:buNone/>
            </a:pPr>
            <a:r>
              <a:rPr lang="en-US" sz="1300" dirty="0">
                <a:solidFill>
                  <a:srgbClr val="94A3B8"/>
                </a:solidFill>
                <a:latin typeface="Calibri" pitchFamily="34" charset="0"/>
                <a:ea typeface="Calibri" pitchFamily="34" charset="-122"/>
                <a:cs typeface="Calibri" pitchFamily="34" charset="-120"/>
              </a:rPr>
              <a:t>BEng Software &amp; Electronic Engineering  ·  ATU Galway  ·  2025/26</a:t>
            </a:r>
            <a:endParaRPr lang="en-US" sz="1300" dirty="0"/>
          </a:p>
          <a:p>
            <a:pPr marL="0" indent="0" algn="ctr">
              <a:buNone/>
            </a:pPr>
            <a:r>
              <a:rPr lang="en-US" sz="1300" dirty="0">
                <a:solidFill>
                  <a:srgbClr val="94A3B8"/>
                </a:solidFill>
                <a:latin typeface="Calibri" pitchFamily="34" charset="0"/>
                <a:ea typeface="Calibri" pitchFamily="34" charset="-122"/>
                <a:cs typeface="Calibri" pitchFamily="34" charset="-120"/>
              </a:rPr>
              <a:t>github.com/Edmentos/TheDeskBuddyApp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TotalTime>
  <Words>2322</Words>
  <Application>Microsoft Office PowerPoint</Application>
  <PresentationFormat>On-screen Show (16:9)</PresentationFormat>
  <Paragraphs>157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Desk Buddy</dc:title>
  <dc:subject>PptxGenJS Presentation</dc:subject>
  <dc:creator>Edmond Wilkinson</dc:creator>
  <cp:lastModifiedBy>EDMOND WILKINSON - STUDENT</cp:lastModifiedBy>
  <cp:revision>2</cp:revision>
  <dcterms:created xsi:type="dcterms:W3CDTF">2026-04-27T15:21:08Z</dcterms:created>
  <dcterms:modified xsi:type="dcterms:W3CDTF">2026-04-27T18:49:54Z</dcterms:modified>
</cp:coreProperties>
</file>